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31"/>
            <a:ext cx="103632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572250"/>
            <a:ext cx="38608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lang="en-US" sz="1400" smtClean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/>
              <a:t>NATO Unclassified + EOP + CHL + ZAF</a:t>
            </a:r>
            <a:endParaRPr lang="en-US" dirty="0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347200" y="6572250"/>
            <a:ext cx="28448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bg1"/>
                </a:solidFill>
                <a:latin typeface="Calibri" pitchFamily="34" charset="0"/>
              </a:defRPr>
            </a:lvl1pPr>
          </a:lstStyle>
          <a:p>
            <a:r>
              <a:rPr lang="en-US" dirty="0"/>
              <a:t>Slide </a:t>
            </a:r>
            <a:fld id="{087A7899-A788-4C18-95AE-3273B8310EF3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11" name="Date Placeholder 6"/>
          <p:cNvSpPr>
            <a:spLocks noGrp="1"/>
          </p:cNvSpPr>
          <p:nvPr>
            <p:ph type="dt" sz="half" idx="2"/>
          </p:nvPr>
        </p:nvSpPr>
        <p:spPr>
          <a:xfrm>
            <a:off x="-14817" y="6572250"/>
            <a:ext cx="4078817" cy="285750"/>
          </a:xfrm>
          <a:prstGeom prst="rect">
            <a:avLst/>
          </a:prstGeom>
        </p:spPr>
        <p:txBody>
          <a:bodyPr/>
          <a:lstStyle>
            <a:lvl1pPr>
              <a:defRPr lang="en-US" sz="1400" kern="1200" dirty="0" smtClean="0">
                <a:solidFill>
                  <a:schemeClr val="bg1"/>
                </a:solidFill>
                <a:latin typeface="Calibri" panose="020F0502020204030204" pitchFamily="34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r>
              <a:rPr lang="en-US"/>
              <a:t>AVT-341 Fall 2022 PBM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6812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 userDrawn="1"/>
        </p:nvSpPr>
        <p:spPr bwMode="auto">
          <a:xfrm>
            <a:off x="14818" y="6569585"/>
            <a:ext cx="3968749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sz="1400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 b="1"/>
            </a:lvl1pPr>
            <a:lvl2pPr>
              <a:defRPr sz="2200"/>
            </a:lvl2pPr>
            <a:lvl3pPr>
              <a:defRPr sz="20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572250"/>
            <a:ext cx="38608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lang="en-US" sz="1400" smtClean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/>
              <a:t>NATO Unclassified + EOP + CHL + ZAF</a:t>
            </a:r>
            <a:endParaRPr lang="en-US" dirty="0"/>
          </a:p>
        </p:txBody>
      </p:sp>
      <p:sp>
        <p:nvSpPr>
          <p:cNvPr id="1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347200" y="6572250"/>
            <a:ext cx="28448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bg1"/>
                </a:solidFill>
                <a:latin typeface="Calibri" pitchFamily="34" charset="0"/>
              </a:defRPr>
            </a:lvl1pPr>
          </a:lstStyle>
          <a:p>
            <a:r>
              <a:rPr lang="en-US" dirty="0"/>
              <a:t>Slide </a:t>
            </a:r>
            <a:fld id="{087A7899-A788-4C18-95AE-3273B8310EF3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13" name="Date Placeholder 6"/>
          <p:cNvSpPr>
            <a:spLocks noGrp="1"/>
          </p:cNvSpPr>
          <p:nvPr>
            <p:ph type="dt" sz="half" idx="2"/>
          </p:nvPr>
        </p:nvSpPr>
        <p:spPr>
          <a:xfrm>
            <a:off x="-14817" y="6572250"/>
            <a:ext cx="4078817" cy="285750"/>
          </a:xfrm>
          <a:prstGeom prst="rect">
            <a:avLst/>
          </a:prstGeom>
        </p:spPr>
        <p:txBody>
          <a:bodyPr/>
          <a:lstStyle>
            <a:lvl1pPr>
              <a:defRPr lang="en-US" sz="1400" kern="1200" dirty="0" smtClean="0">
                <a:solidFill>
                  <a:schemeClr val="bg1"/>
                </a:solidFill>
                <a:latin typeface="Calibri" panose="020F0502020204030204" pitchFamily="34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r>
              <a:rPr lang="en-US"/>
              <a:t>AVT-341 Fall 2022 PBM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1612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 txBox="1">
            <a:spLocks noChangeArrowheads="1"/>
          </p:cNvSpPr>
          <p:nvPr userDrawn="1"/>
        </p:nvSpPr>
        <p:spPr bwMode="auto">
          <a:xfrm>
            <a:off x="14818" y="6562725"/>
            <a:ext cx="3968749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sz="1400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3" y="1600206"/>
            <a:ext cx="5392616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9784" y="1600206"/>
            <a:ext cx="5392616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572250"/>
            <a:ext cx="38608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lang="en-US" sz="1400" smtClean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/>
              <a:t>NATO Unclassified + EOP + CHL + ZAF</a:t>
            </a:r>
            <a:endParaRPr lang="en-US" dirty="0"/>
          </a:p>
        </p:txBody>
      </p:sp>
      <p:sp>
        <p:nvSpPr>
          <p:cNvPr id="1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347200" y="6572250"/>
            <a:ext cx="28448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bg1"/>
                </a:solidFill>
                <a:latin typeface="Calibri" pitchFamily="34" charset="0"/>
              </a:defRPr>
            </a:lvl1pPr>
          </a:lstStyle>
          <a:p>
            <a:r>
              <a:rPr lang="en-US" dirty="0"/>
              <a:t>Slide </a:t>
            </a:r>
            <a:fld id="{087A7899-A788-4C18-95AE-3273B8310EF3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13" name="Date Placeholder 6"/>
          <p:cNvSpPr>
            <a:spLocks noGrp="1"/>
          </p:cNvSpPr>
          <p:nvPr>
            <p:ph type="dt" sz="half" idx="10"/>
          </p:nvPr>
        </p:nvSpPr>
        <p:spPr>
          <a:xfrm>
            <a:off x="-14817" y="6572250"/>
            <a:ext cx="4078817" cy="285750"/>
          </a:xfrm>
          <a:prstGeom prst="rect">
            <a:avLst/>
          </a:prstGeom>
        </p:spPr>
        <p:txBody>
          <a:bodyPr/>
          <a:lstStyle>
            <a:lvl1pPr>
              <a:defRPr lang="en-US" sz="1400" kern="1200" dirty="0" smtClean="0">
                <a:solidFill>
                  <a:schemeClr val="bg1"/>
                </a:solidFill>
                <a:latin typeface="Calibri" panose="020F0502020204030204" pitchFamily="34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r>
              <a:rPr lang="en-US"/>
              <a:t>AVT-341 Fall 2022 PBM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6666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/>
          <p:cNvSpPr txBox="1">
            <a:spLocks noChangeArrowheads="1"/>
          </p:cNvSpPr>
          <p:nvPr userDrawn="1"/>
        </p:nvSpPr>
        <p:spPr bwMode="auto">
          <a:xfrm>
            <a:off x="14818" y="6562725"/>
            <a:ext cx="3968749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sz="1400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572250"/>
            <a:ext cx="38608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lang="en-US" sz="1400" smtClean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/>
              <a:t>NATO Unclassified + EOP + CHL + ZAF</a:t>
            </a:r>
            <a:endParaRPr lang="en-US" dirty="0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347200" y="6572250"/>
            <a:ext cx="28448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bg1"/>
                </a:solidFill>
                <a:latin typeface="Calibri" pitchFamily="34" charset="0"/>
              </a:defRPr>
            </a:lvl1pPr>
          </a:lstStyle>
          <a:p>
            <a:r>
              <a:rPr lang="en-US" dirty="0"/>
              <a:t>Slide </a:t>
            </a:r>
            <a:fld id="{087A7899-A788-4C18-95AE-3273B8310EF3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11" name="Date Placeholder 6"/>
          <p:cNvSpPr>
            <a:spLocks noGrp="1"/>
          </p:cNvSpPr>
          <p:nvPr>
            <p:ph type="dt" sz="half" idx="2"/>
          </p:nvPr>
        </p:nvSpPr>
        <p:spPr>
          <a:xfrm>
            <a:off x="-14817" y="6572250"/>
            <a:ext cx="4078817" cy="285750"/>
          </a:xfrm>
          <a:prstGeom prst="rect">
            <a:avLst/>
          </a:prstGeom>
        </p:spPr>
        <p:txBody>
          <a:bodyPr/>
          <a:lstStyle>
            <a:lvl1pPr>
              <a:defRPr lang="en-US" sz="1400" kern="1200" dirty="0" smtClean="0">
                <a:solidFill>
                  <a:schemeClr val="bg1"/>
                </a:solidFill>
                <a:latin typeface="Calibri" panose="020F0502020204030204" pitchFamily="34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r>
              <a:rPr lang="en-US"/>
              <a:t>AVT-341 Fall 2022 PBM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2183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"/>
          <p:cNvSpPr txBox="1">
            <a:spLocks noChangeArrowheads="1"/>
          </p:cNvSpPr>
          <p:nvPr userDrawn="1"/>
        </p:nvSpPr>
        <p:spPr bwMode="auto">
          <a:xfrm>
            <a:off x="14818" y="6562725"/>
            <a:ext cx="3968749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sz="1400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572250"/>
            <a:ext cx="38608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lang="en-US" sz="1400" smtClean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/>
              <a:t>NATO Unclassified + EOP + CHL + ZAF</a:t>
            </a:r>
            <a:endParaRPr lang="en-US" dirty="0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347200" y="6572250"/>
            <a:ext cx="28448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bg1"/>
                </a:solidFill>
                <a:latin typeface="Calibri" pitchFamily="34" charset="0"/>
              </a:defRPr>
            </a:lvl1pPr>
          </a:lstStyle>
          <a:p>
            <a:r>
              <a:rPr lang="en-US" dirty="0"/>
              <a:t>Slide </a:t>
            </a:r>
            <a:fld id="{087A7899-A788-4C18-95AE-3273B8310EF3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11" name="Date Placeholder 6"/>
          <p:cNvSpPr>
            <a:spLocks noGrp="1"/>
          </p:cNvSpPr>
          <p:nvPr>
            <p:ph type="dt" sz="half" idx="2"/>
          </p:nvPr>
        </p:nvSpPr>
        <p:spPr>
          <a:xfrm>
            <a:off x="-14817" y="6572250"/>
            <a:ext cx="4078817" cy="285750"/>
          </a:xfrm>
          <a:prstGeom prst="rect">
            <a:avLst/>
          </a:prstGeom>
        </p:spPr>
        <p:txBody>
          <a:bodyPr/>
          <a:lstStyle>
            <a:lvl1pPr>
              <a:defRPr lang="en-US" sz="1400" kern="1200" dirty="0" smtClean="0">
                <a:solidFill>
                  <a:schemeClr val="bg1"/>
                </a:solidFill>
                <a:latin typeface="Calibri" panose="020F0502020204030204" pitchFamily="34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r>
              <a:rPr lang="en-US"/>
              <a:t>AVT-341 Fall 2022 PBM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0016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4" name="Picture 10"/>
          <p:cNvPicPr>
            <a:picLocks noChangeAspect="1" noChangeArrowheads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0" y="6575678"/>
            <a:ext cx="1219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963638"/>
            <a:ext cx="10972800" cy="665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772816"/>
            <a:ext cx="10972800" cy="4680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572250"/>
            <a:ext cx="38608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lang="en-US" sz="1400" smtClean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/>
              <a:t>NATO Unclassified + EOP + CHL + ZAF</a:t>
            </a:r>
            <a:endParaRPr lang="en-US" dirty="0"/>
          </a:p>
        </p:txBody>
      </p:sp>
      <p:sp>
        <p:nvSpPr>
          <p:cNvPr id="17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347200" y="6572250"/>
            <a:ext cx="28448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bg1"/>
                </a:solidFill>
                <a:latin typeface="Calibri" pitchFamily="34" charset="0"/>
              </a:defRPr>
            </a:lvl1pPr>
          </a:lstStyle>
          <a:p>
            <a:r>
              <a:rPr lang="en-US" dirty="0"/>
              <a:t>Slide </a:t>
            </a:r>
            <a:fld id="{087A7899-A788-4C18-95AE-3273B8310EF3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11" name="Date Placeholder 6"/>
          <p:cNvSpPr>
            <a:spLocks noGrp="1"/>
          </p:cNvSpPr>
          <p:nvPr>
            <p:ph type="dt" sz="half" idx="2"/>
          </p:nvPr>
        </p:nvSpPr>
        <p:spPr>
          <a:xfrm>
            <a:off x="-14817" y="6572250"/>
            <a:ext cx="4078817" cy="285750"/>
          </a:xfrm>
          <a:prstGeom prst="rect">
            <a:avLst/>
          </a:prstGeom>
        </p:spPr>
        <p:txBody>
          <a:bodyPr/>
          <a:lstStyle>
            <a:lvl1pPr>
              <a:defRPr lang="en-US" sz="1400" kern="1200" dirty="0" smtClean="0">
                <a:solidFill>
                  <a:schemeClr val="bg1"/>
                </a:solidFill>
                <a:latin typeface="Calibri" panose="020F0502020204030204" pitchFamily="34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r>
              <a:rPr lang="en-US"/>
              <a:t>AVT-341 Fall 2022 PBM</a:t>
            </a:r>
            <a:endParaRPr lang="en-US" dirty="0"/>
          </a:p>
        </p:txBody>
      </p:sp>
      <p:sp>
        <p:nvSpPr>
          <p:cNvPr id="10" name="bg object 16"/>
          <p:cNvSpPr/>
          <p:nvPr userDrawn="1"/>
        </p:nvSpPr>
        <p:spPr>
          <a:xfrm>
            <a:off x="3087" y="0"/>
            <a:ext cx="12188913" cy="87629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45517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  <a:ea typeface="ＭＳ Ｐゴシック" charset="0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2D2D8A"/>
          </a:solidFill>
          <a:latin typeface="Calibri" pitchFamily="34" charset="0"/>
          <a:ea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2D2D8A"/>
          </a:solidFill>
          <a:latin typeface="Calibri" pitchFamily="34" charset="0"/>
          <a:ea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2D2D8A"/>
          </a:solidFill>
          <a:latin typeface="Calibri" pitchFamily="34" charset="0"/>
          <a:ea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2D2D8A"/>
          </a:solidFill>
          <a:latin typeface="Calibri" pitchFamily="34" charset="0"/>
          <a:ea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chemeClr val="tx1"/>
          </a:solidFill>
          <a:latin typeface="Calibri" pitchFamily="34" charset="0"/>
          <a:ea typeface="ＭＳ Ｐゴシック" charset="0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Ø"/>
        <a:defRPr sz="2400">
          <a:solidFill>
            <a:schemeClr val="tx1"/>
          </a:solidFill>
          <a:latin typeface="Calibri" pitchFamily="34" charset="0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sz="2200">
          <a:solidFill>
            <a:schemeClr val="tx1"/>
          </a:solidFill>
          <a:latin typeface="Calibri" pitchFamily="34" charset="0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Calibri" pitchFamily="34" charset="0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Calibri" pitchFamily="34" charset="0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5D94D-6076-495A-971D-B81B0FDD4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Problem: Autonomous Perception for Terrain Classification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847D3-8388-4CA0-BC62-D8C698705F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Forward-looking Terrain Classification</a:t>
            </a:r>
          </a:p>
          <a:p>
            <a:pPr lvl="1"/>
            <a:r>
              <a:rPr lang="en-US" dirty="0"/>
              <a:t>Goal: Identification &amp; Segmentation of Terrain Features and Areas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Reach goal: Real-time Estimation of Terrain Trafficability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Cost-map Generation for Autonomous Navigation</a:t>
            </a:r>
          </a:p>
          <a:p>
            <a:pPr lvl="1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FB2F30-DB7B-4400-A4C1-1A586345D5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-128"/>
                <a:cs typeface="+mn-cs"/>
              </a:rPr>
              <a:t>NATO Unclassified + EOP + CHL + ZAF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ＭＳ Ｐゴシック" charset="-128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F3A8F5-7597-4F55-B328-58C97F8AF6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ＭＳ Ｐゴシック" charset="-128"/>
                <a:cs typeface="+mn-cs"/>
              </a:rPr>
              <a:t>Slide </a:t>
            </a:r>
            <a:fld id="{087A7899-A788-4C18-95AE-3273B8310EF3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ＭＳ Ｐゴシック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itchFamily="34" charset="0"/>
              <a:ea typeface="ＭＳ Ｐゴシック" charset="-128"/>
              <a:cs typeface="+mn-cs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1295916-C660-4882-946D-3564786BF4FB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-128"/>
                <a:cs typeface="+mn-cs"/>
              </a:rPr>
              <a:t>AVT-341 Fall 2022 PBM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ＭＳ Ｐゴシック" charset="-128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0834738-B445-4BF2-8648-6C7386B90B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2439" y="1628800"/>
            <a:ext cx="1992568" cy="152622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A3E1466-C169-4496-A17D-9BBA324E5D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1368" y="2725758"/>
            <a:ext cx="2020632" cy="152622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653A554-D090-4649-91A4-CA93DF24F8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1168" y="4843665"/>
            <a:ext cx="2950688" cy="1468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201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5D94D-6076-495A-971D-B81B0FDD4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Problem: Autonomous Perception for Object Classification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847D3-8388-4CA0-BC62-D8C698705F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72816"/>
            <a:ext cx="10681252" cy="4680520"/>
          </a:xfrm>
        </p:spPr>
        <p:txBody>
          <a:bodyPr/>
          <a:lstStyle/>
          <a:p>
            <a:r>
              <a:rPr lang="en-US" dirty="0"/>
              <a:t>Forward-looking Object Classification</a:t>
            </a:r>
          </a:p>
          <a:p>
            <a:pPr lvl="1"/>
            <a:r>
              <a:rPr lang="en-US" dirty="0"/>
              <a:t>Goal: Identification &amp; Segmentation of Objects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Reach goal: Real-time Estimation of Obstacle Trafficability</a:t>
            </a:r>
          </a:p>
          <a:p>
            <a:pPr lvl="2"/>
            <a:r>
              <a:rPr lang="en-US" dirty="0"/>
              <a:t>E.g. Vehicle-dependent cost for driving over bush vs. tree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Cost-map &amp; Occupancy Grid Generation for Autonomous Navigation</a:t>
            </a:r>
          </a:p>
          <a:p>
            <a:pPr lvl="1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FB2F30-DB7B-4400-A4C1-1A586345D5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-128"/>
                <a:cs typeface="+mn-cs"/>
              </a:rPr>
              <a:t>NATO Unclassified + EOP + CHL + ZAF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ＭＳ Ｐゴシック" charset="-128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F3A8F5-7597-4F55-B328-58C97F8AF6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ＭＳ Ｐゴシック" charset="-128"/>
                <a:cs typeface="+mn-cs"/>
              </a:rPr>
              <a:t>Slide </a:t>
            </a:r>
            <a:fld id="{087A7899-A788-4C18-95AE-3273B8310EF3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ＭＳ Ｐゴシック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itchFamily="34" charset="0"/>
              <a:ea typeface="ＭＳ Ｐゴシック" charset="-128"/>
              <a:cs typeface="+mn-cs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1295916-C660-4882-946D-3564786BF4FB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-128"/>
                <a:cs typeface="+mn-cs"/>
              </a:rPr>
              <a:t>AVT-341 Fall 2022 PBM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ＭＳ Ｐゴシック" charset="-128"/>
              <a:cs typeface="+mn-cs"/>
            </a:endParaRPr>
          </a:p>
        </p:txBody>
      </p:sp>
      <p:pic>
        <p:nvPicPr>
          <p:cNvPr id="8" name="Picture 1">
            <a:extLst>
              <a:ext uri="{FF2B5EF4-FFF2-40B4-BE49-F238E27FC236}">
                <a16:creationId xmlns:a16="http://schemas.microsoft.com/office/drawing/2014/main" id="{89D0BD36-314B-40F0-8A53-17741C2CA8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7912" y="1470373"/>
            <a:ext cx="2410237" cy="1474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C5CB9C25-6A88-45A5-A184-4887325F83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7912" y="2846360"/>
            <a:ext cx="2788191" cy="1705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C342F575-E22B-4741-A429-5FA35715DC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9987" y="5387627"/>
            <a:ext cx="3604008" cy="1173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18699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A49908F-00B5-4B18-97F3-1D5BAF4C4C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88563" y="1600206"/>
            <a:ext cx="5392616" cy="4525963"/>
          </a:xfrm>
        </p:spPr>
        <p:txBody>
          <a:bodyPr/>
          <a:lstStyle/>
          <a:p>
            <a:pPr marL="0" indent="0" algn="ctr">
              <a:buNone/>
            </a:pPr>
            <a:r>
              <a:rPr lang="en-US" u="sng" dirty="0"/>
              <a:t>Public Dataset Sensors</a:t>
            </a:r>
          </a:p>
          <a:p>
            <a:r>
              <a:rPr lang="en-US" b="0" dirty="0"/>
              <a:t>Camera: Basler Ace</a:t>
            </a:r>
          </a:p>
          <a:p>
            <a:pPr lvl="1"/>
            <a:r>
              <a:rPr lang="en-US" b="0" i="0" dirty="0">
                <a:solidFill>
                  <a:srgbClr val="0A0A0A"/>
                </a:solidFill>
                <a:effectLst/>
                <a:latin typeface="DINWebPro-Regular"/>
              </a:rPr>
              <a:t>Model: acA1920-50gc</a:t>
            </a:r>
            <a:endParaRPr lang="en-US" dirty="0"/>
          </a:p>
          <a:p>
            <a:pPr lvl="1"/>
            <a:r>
              <a:rPr lang="en-US" dirty="0"/>
              <a:t>1920x1200, 50fps</a:t>
            </a:r>
          </a:p>
          <a:p>
            <a:pPr lvl="1"/>
            <a:r>
              <a:rPr lang="en-US" b="0" dirty="0"/>
              <a:t>1</a:t>
            </a:r>
            <a:r>
              <a:rPr lang="en-US" dirty="0"/>
              <a:t>6mm Prime Lens</a:t>
            </a:r>
          </a:p>
          <a:p>
            <a:pPr lvl="1"/>
            <a:endParaRPr lang="en-US" b="0" dirty="0"/>
          </a:p>
          <a:p>
            <a:r>
              <a:rPr lang="en-US" b="0" dirty="0"/>
              <a:t>Lidar: Ouster OS1</a:t>
            </a:r>
          </a:p>
          <a:p>
            <a:pPr lvl="1"/>
            <a:r>
              <a:rPr lang="en-US" b="0" dirty="0"/>
              <a:t>Model: OS1-64</a:t>
            </a:r>
          </a:p>
          <a:p>
            <a:pPr lvl="1"/>
            <a:r>
              <a:rPr lang="en-US" dirty="0"/>
              <a:t>64 Chan, 45⁰ Vertical </a:t>
            </a:r>
            <a:r>
              <a:rPr lang="en-US" dirty="0" err="1"/>
              <a:t>FoV</a:t>
            </a:r>
            <a:endParaRPr lang="en-US" dirty="0"/>
          </a:p>
          <a:p>
            <a:pPr lvl="1"/>
            <a:r>
              <a:rPr lang="en-US" b="0" dirty="0"/>
              <a:t>2048 Hori</a:t>
            </a:r>
            <a:r>
              <a:rPr lang="en-US" dirty="0"/>
              <a:t>zontal Res., 10Hz</a:t>
            </a:r>
            <a:endParaRPr lang="en-US" b="0"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0407B2A7-3325-458E-BF7A-CA7F08F7FC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0473" y="3119686"/>
            <a:ext cx="1068915" cy="831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9223DFF-00CC-4032-BD9E-873F58010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Exteroceptive Sensors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0D88C1E-9867-4CF3-82A9-4BC513EE21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5164" y="1600206"/>
            <a:ext cx="5392616" cy="4525963"/>
          </a:xfrm>
        </p:spPr>
        <p:txBody>
          <a:bodyPr/>
          <a:lstStyle/>
          <a:p>
            <a:pPr marL="0" indent="0" algn="ctr">
              <a:buNone/>
            </a:pPr>
            <a:r>
              <a:rPr lang="en-US" u="sng" dirty="0"/>
              <a:t>AVT-341 Sensors</a:t>
            </a:r>
          </a:p>
          <a:p>
            <a:r>
              <a:rPr lang="en-US" b="0" dirty="0"/>
              <a:t>Camera: </a:t>
            </a:r>
            <a:r>
              <a:rPr lang="en-US" b="0" dirty="0" err="1"/>
              <a:t>Flir</a:t>
            </a:r>
            <a:r>
              <a:rPr lang="en-US" b="0" dirty="0"/>
              <a:t> Oryx </a:t>
            </a:r>
          </a:p>
          <a:p>
            <a:pPr lvl="1"/>
            <a:r>
              <a:rPr lang="en-US" dirty="0"/>
              <a:t>Model: ORX-10G-51S5C-C</a:t>
            </a:r>
          </a:p>
          <a:p>
            <a:pPr lvl="1"/>
            <a:r>
              <a:rPr lang="en-US" b="0" dirty="0"/>
              <a:t>2448x2048, 162fps</a:t>
            </a:r>
          </a:p>
          <a:p>
            <a:pPr lvl="1"/>
            <a:r>
              <a:rPr lang="en-US" dirty="0"/>
              <a:t>Lens TBD</a:t>
            </a:r>
          </a:p>
          <a:p>
            <a:pPr lvl="1"/>
            <a:endParaRPr lang="en-US" b="0" dirty="0"/>
          </a:p>
          <a:p>
            <a:r>
              <a:rPr lang="en-US" b="0" dirty="0"/>
              <a:t>Lidar: </a:t>
            </a:r>
            <a:r>
              <a:rPr lang="en-US" b="0" dirty="0" err="1"/>
              <a:t>Velodyne</a:t>
            </a:r>
            <a:r>
              <a:rPr lang="en-US" b="0" dirty="0"/>
              <a:t> VLP</a:t>
            </a:r>
          </a:p>
          <a:p>
            <a:pPr lvl="1"/>
            <a:r>
              <a:rPr lang="en-US" dirty="0"/>
              <a:t>Model: VLP-16</a:t>
            </a:r>
          </a:p>
          <a:p>
            <a:pPr lvl="1"/>
            <a:r>
              <a:rPr lang="en-US" b="0" dirty="0"/>
              <a:t>16 Chan, 30</a:t>
            </a:r>
            <a:r>
              <a:rPr lang="en-US" dirty="0"/>
              <a:t>⁰ Vertical </a:t>
            </a:r>
            <a:r>
              <a:rPr lang="en-US" dirty="0" err="1"/>
              <a:t>FoV</a:t>
            </a:r>
            <a:endParaRPr lang="en-US" dirty="0"/>
          </a:p>
          <a:p>
            <a:pPr lvl="1"/>
            <a:r>
              <a:rPr lang="en-US" b="0" dirty="0"/>
              <a:t>900-3600 Horizontal Res., 5-20Hz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AFF3F8-4B9A-4656-8DD4-A94D614E97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-128"/>
                <a:cs typeface="+mn-cs"/>
              </a:rPr>
              <a:t>NATO Unclassified + EOP + CHL + ZAF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ＭＳ Ｐゴシック" charset="-128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19EC07-DC1B-43A3-8DB3-27AD181481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ＭＳ Ｐゴシック" charset="-128"/>
                <a:cs typeface="+mn-cs"/>
              </a:rPr>
              <a:t>Slide </a:t>
            </a:r>
            <a:fld id="{087A7899-A788-4C18-95AE-3273B8310EF3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ＭＳ Ｐゴシック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itchFamily="34" charset="0"/>
              <a:ea typeface="ＭＳ Ｐゴシック" charset="-128"/>
              <a:cs typeface="+mn-cs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ADBA8C3-4FE5-4FDD-8091-08E5B17F3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-128"/>
                <a:cs typeface="+mn-cs"/>
              </a:rPr>
              <a:t>AVT-341 Fall 2022 PBM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ＭＳ Ｐゴシック" charset="-128"/>
              <a:cs typeface="+mn-cs"/>
            </a:endParaRPr>
          </a:p>
        </p:txBody>
      </p:sp>
      <p:pic>
        <p:nvPicPr>
          <p:cNvPr id="2050" name="Picture 2" descr="Basler ace - acA1920-50gc">
            <a:extLst>
              <a:ext uri="{FF2B5EF4-FFF2-40B4-BE49-F238E27FC236}">
                <a16:creationId xmlns:a16="http://schemas.microsoft.com/office/drawing/2014/main" id="{144F293A-C2EF-4D0A-B6F3-E0681E154BF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13" t="10019" r="13467" b="13982"/>
          <a:stretch/>
        </p:blipFill>
        <p:spPr bwMode="auto">
          <a:xfrm>
            <a:off x="10395492" y="2246322"/>
            <a:ext cx="1068916" cy="831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OxTS technology partner: Ouster - High-resolution LiDAR sensors">
            <a:extLst>
              <a:ext uri="{FF2B5EF4-FFF2-40B4-BE49-F238E27FC236}">
                <a16:creationId xmlns:a16="http://schemas.microsoft.com/office/drawing/2014/main" id="{7BD076EC-F72C-49B2-9B92-27F54FE6DC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7337" y="4337488"/>
            <a:ext cx="1709070" cy="1220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792CA9C-3D69-4A94-9AD1-3DE634D9C9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7604" y="2167416"/>
            <a:ext cx="956020" cy="745360"/>
          </a:xfrm>
          <a:prstGeom prst="rect">
            <a:avLst/>
          </a:prstGeom>
        </p:spPr>
      </p:pic>
      <p:pic>
        <p:nvPicPr>
          <p:cNvPr id="2056" name="Picture 8" descr="Velodyne VLP-16 Puck LITE - Air-Supply">
            <a:extLst>
              <a:ext uri="{FF2B5EF4-FFF2-40B4-BE49-F238E27FC236}">
                <a16:creationId xmlns:a16="http://schemas.microsoft.com/office/drawing/2014/main" id="{DD94F445-734C-4767-B71C-7BC374553D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2344" y="4268654"/>
            <a:ext cx="2097822" cy="1387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83947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F0BC4087-9A6C-49E6-BB89-0EE22578B8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7343" y="5160627"/>
            <a:ext cx="2157857" cy="142032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62A83B-DB3F-4BA2-A6D6-32C0B32BE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Publicly Available Datasets for Unstructured Environments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A7F8979-273B-417E-BC3C-1E6EA4CFE03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u="sng" dirty="0"/>
              <a:t>RUGD</a:t>
            </a:r>
          </a:p>
          <a:p>
            <a:r>
              <a:rPr lang="en-US" sz="2400" dirty="0"/>
              <a:t>Variety of Terrain Types</a:t>
            </a:r>
          </a:p>
          <a:p>
            <a:r>
              <a:rPr lang="en-US" sz="2400" dirty="0"/>
              <a:t>Only Camera Image Annotations</a:t>
            </a:r>
          </a:p>
          <a:p>
            <a:endParaRPr lang="en-US" sz="240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A9E1D86-F7C9-4509-B513-C94D52D6D3F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u="sng" dirty="0"/>
              <a:t>Rellis-3D</a:t>
            </a:r>
          </a:p>
          <a:p>
            <a:r>
              <a:rPr lang="en-US" sz="2400" dirty="0"/>
              <a:t>Similar Terrain Type</a:t>
            </a:r>
          </a:p>
          <a:p>
            <a:r>
              <a:rPr lang="en-US" sz="2400" dirty="0"/>
              <a:t>Camera Image and Lidar Annotations</a:t>
            </a:r>
          </a:p>
          <a:p>
            <a:r>
              <a:rPr lang="en-US" sz="2400" dirty="0"/>
              <a:t>Synchronized data from:</a:t>
            </a:r>
          </a:p>
          <a:p>
            <a:pPr lvl="2"/>
            <a:r>
              <a:rPr lang="en-US" sz="1600" dirty="0"/>
              <a:t>Stereo Camera</a:t>
            </a:r>
          </a:p>
          <a:p>
            <a:pPr lvl="2"/>
            <a:r>
              <a:rPr lang="en-US" sz="1600" dirty="0" err="1"/>
              <a:t>Velodyne</a:t>
            </a:r>
            <a:r>
              <a:rPr lang="en-US" sz="1600" dirty="0"/>
              <a:t> and Ouster Lidar</a:t>
            </a:r>
          </a:p>
          <a:p>
            <a:pPr lvl="2"/>
            <a:r>
              <a:rPr lang="en-US" sz="1600" dirty="0"/>
              <a:t>Mono Camera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E1F27A-E3B1-4529-813E-8D5EA10BFB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-128"/>
                <a:cs typeface="+mn-cs"/>
              </a:rPr>
              <a:t>NATO Unclassified + EOP + CHL + ZAF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ＭＳ Ｐゴシック" charset="-128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624D68-A423-45C5-814C-8BA891F2D4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ＭＳ Ｐゴシック" charset="-128"/>
                <a:cs typeface="+mn-cs"/>
              </a:rPr>
              <a:t>Slide </a:t>
            </a:r>
            <a:fld id="{087A7899-A788-4C18-95AE-3273B8310EF3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ＭＳ Ｐゴシック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itchFamily="34" charset="0"/>
              <a:ea typeface="ＭＳ Ｐゴシック" charset="-128"/>
              <a:cs typeface="+mn-cs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4939A09-3846-4826-B166-2A47B00B8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-128"/>
                <a:cs typeface="+mn-cs"/>
              </a:rPr>
              <a:t>AVT-341 Fall 2022 PBM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ＭＳ Ｐゴシック" charset="-128"/>
              <a:cs typeface="+mn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5A72C92-76CB-4B6A-A0D3-98AA2ED0A1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185" y="3205400"/>
            <a:ext cx="3774987" cy="100877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7C3AD5F-16B7-4F8A-8959-A334C0B6FA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664" y="4214178"/>
            <a:ext cx="3692508" cy="100243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C47E401-EF5C-4E8E-8220-C2D424AE2A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1805" y="5081832"/>
            <a:ext cx="1826374" cy="149041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EF9303C-DDE5-4911-9F6D-3101F49B12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7328" y="4418150"/>
            <a:ext cx="3800591" cy="100243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6AD0576-2067-40C6-9710-0219F2B60DA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32932" y="5499427"/>
            <a:ext cx="3774987" cy="972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1544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D4617-31A5-40E0-9B99-4D15C464E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Learning Architectures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08F1341-3AB0-4D3D-AFAA-DC80D01A47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85617" y="1628800"/>
            <a:ext cx="5392616" cy="4525963"/>
          </a:xfrm>
        </p:spPr>
        <p:txBody>
          <a:bodyPr/>
          <a:lstStyle/>
          <a:p>
            <a:pPr marL="0" indent="0" algn="ctr">
              <a:buNone/>
            </a:pPr>
            <a:r>
              <a:rPr lang="en-US" sz="2400" u="sng" dirty="0"/>
              <a:t>Echo State Network (ESN)</a:t>
            </a:r>
          </a:p>
          <a:p>
            <a:r>
              <a:rPr lang="en-US" sz="2000" b="0" dirty="0"/>
              <a:t>Reservoir Computing Architecture</a:t>
            </a:r>
          </a:p>
          <a:p>
            <a:r>
              <a:rPr lang="en-US" sz="2000" b="0" dirty="0"/>
              <a:t>Transforms linear data into high-dimensional state space</a:t>
            </a:r>
          </a:p>
          <a:p>
            <a:r>
              <a:rPr lang="en-US" sz="2000" b="0" dirty="0"/>
              <a:t>Very short training times! (only output layer is trained)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E4618F1-79D9-4962-A5AC-73716B6DB3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8699" y="1600206"/>
            <a:ext cx="5392616" cy="4525963"/>
          </a:xfrm>
        </p:spPr>
        <p:txBody>
          <a:bodyPr/>
          <a:lstStyle/>
          <a:p>
            <a:pPr marL="0" indent="0" algn="ctr">
              <a:buNone/>
            </a:pPr>
            <a:r>
              <a:rPr lang="en-US" sz="2400" u="sng" dirty="0"/>
              <a:t>Recurrent Neural Network (RNN)</a:t>
            </a:r>
          </a:p>
          <a:p>
            <a:r>
              <a:rPr lang="en-US" sz="2000" b="0" dirty="0"/>
              <a:t>Long training times</a:t>
            </a:r>
          </a:p>
          <a:p>
            <a:r>
              <a:rPr lang="en-US" sz="2000" b="0" dirty="0"/>
              <a:t>Requires high computing power</a:t>
            </a:r>
          </a:p>
          <a:p>
            <a:endParaRPr lang="en-US" sz="2000" b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3D4593-0C15-4CE3-B293-4EEDDCA848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-128"/>
                <a:cs typeface="+mn-cs"/>
              </a:rPr>
              <a:t>NATO Unclassified + EOP + CHL + ZAF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ＭＳ Ｐゴシック" charset="-128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3E30C7-F3FC-4B71-8454-EF0C3CA84C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ＭＳ Ｐゴシック" charset="-128"/>
                <a:cs typeface="+mn-cs"/>
              </a:rPr>
              <a:t>Slide </a:t>
            </a:r>
            <a:fld id="{087A7899-A788-4C18-95AE-3273B8310EF3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ＭＳ Ｐゴシック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itchFamily="34" charset="0"/>
              <a:ea typeface="ＭＳ Ｐゴシック" charset="-128"/>
              <a:cs typeface="+mn-cs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0288A88-17E5-4B95-B63C-CFD19B986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-128"/>
                <a:cs typeface="+mn-cs"/>
              </a:rPr>
              <a:t>AVT-341 Fall 2022 PBM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ＭＳ Ｐゴシック" charset="-128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9F2E3F0-78CB-4F85-984A-E0C0B4D2BC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2201" y="3000346"/>
            <a:ext cx="3109658" cy="3348863"/>
          </a:xfrm>
          <a:prstGeom prst="rect">
            <a:avLst/>
          </a:prstGeom>
        </p:spPr>
      </p:pic>
      <p:pic>
        <p:nvPicPr>
          <p:cNvPr id="10" name="Content Placeholder 5" descr="Basic_ESN">
            <a:extLst>
              <a:ext uri="{FF2B5EF4-FFF2-40B4-BE49-F238E27FC236}">
                <a16:creationId xmlns:a16="http://schemas.microsoft.com/office/drawing/2014/main" id="{7C3D89A5-D3ED-453F-9B69-7549D09E907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5721" y="4278004"/>
            <a:ext cx="4143857" cy="21827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4768668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AAAF2-A880-67A8-211C-BD4FB49F2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Modified Echo State Network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CA4EAD-E5CC-7752-E5A9-614DFC96FE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9477" y="5183074"/>
            <a:ext cx="11353045" cy="1469821"/>
          </a:xfrm>
        </p:spPr>
        <p:txBody>
          <a:bodyPr>
            <a:noAutofit/>
          </a:bodyPr>
          <a:lstStyle/>
          <a:p>
            <a:r>
              <a:rPr lang="en-US" sz="2000" dirty="0">
                <a:effectLst/>
                <a:ea typeface="Times New Roman" panose="02020603050405020304" pitchFamily="18" charset="0"/>
              </a:rPr>
              <a:t>The use of multiple smaller parallel and/or series reservoirs that split the input image into equal portions.</a:t>
            </a:r>
          </a:p>
          <a:p>
            <a:r>
              <a:rPr lang="en-US" sz="2000" dirty="0">
                <a:ea typeface="Times New Roman" panose="02020603050405020304" pitchFamily="18" charset="0"/>
              </a:rPr>
              <a:t>T</a:t>
            </a:r>
            <a:r>
              <a:rPr lang="en-US" sz="2000" dirty="0">
                <a:effectLst/>
                <a:ea typeface="Times New Roman" panose="02020603050405020304" pitchFamily="18" charset="0"/>
              </a:rPr>
              <a:t>he total neuron count is the number of parallel reservoirs multiplied by the neurons per reservoir.</a:t>
            </a:r>
          </a:p>
          <a:p>
            <a:r>
              <a:rPr lang="en-US" sz="2000" dirty="0">
                <a:effectLst/>
                <a:ea typeface="Times New Roman" panose="02020603050405020304" pitchFamily="18" charset="0"/>
              </a:rPr>
              <a:t>The neuron states of each parallel reservoir is concatenated into a single state vector</a:t>
            </a:r>
            <a:r>
              <a:rPr lang="en-US" sz="2000" dirty="0">
                <a:ea typeface="Times New Roman" panose="02020603050405020304" pitchFamily="18" charset="0"/>
              </a:rPr>
              <a:t>.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2A60BDB-6369-6726-3C0B-89FE931A53CC}"/>
              </a:ext>
            </a:extLst>
          </p:cNvPr>
          <p:cNvSpPr txBox="1">
            <a:spLocks/>
          </p:cNvSpPr>
          <p:nvPr/>
        </p:nvSpPr>
        <p:spPr>
          <a:xfrm>
            <a:off x="258333" y="3336491"/>
            <a:ext cx="1524878" cy="665162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 fontScale="77500" lnSpcReduction="2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rgbClr val="76B043"/>
              </a:buClr>
              <a:buFont typeface="Arial"/>
              <a:buChar char="•"/>
              <a:defRPr sz="2100" b="0" i="0" kern="1200" baseline="0">
                <a:solidFill>
                  <a:schemeClr val="tx1"/>
                </a:solidFill>
                <a:latin typeface="+mn-lt"/>
                <a:ea typeface="Proxima Nova" charset="0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76B043"/>
              </a:buClr>
              <a:buFont typeface="Arial"/>
              <a:buChar char="•"/>
              <a:defRPr sz="1800" b="0" i="0" kern="1200" baseline="0">
                <a:solidFill>
                  <a:schemeClr val="tx1"/>
                </a:solidFill>
                <a:latin typeface="+mn-lt"/>
                <a:ea typeface="Proxima Nova" charset="0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76B043"/>
              </a:buClr>
              <a:buFont typeface="Arial"/>
              <a:buChar char="•"/>
              <a:defRPr sz="1500" b="0" i="0" kern="1200" baseline="0">
                <a:solidFill>
                  <a:schemeClr val="tx1"/>
                </a:solidFill>
                <a:latin typeface="+mn-lt"/>
                <a:ea typeface="Proxima Nova" charset="0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76B043"/>
              </a:buClr>
              <a:buFont typeface="Arial"/>
              <a:buChar char="•"/>
              <a:defRPr sz="1350" b="0" i="0" kern="1200" baseline="0">
                <a:solidFill>
                  <a:schemeClr val="tx1"/>
                </a:solidFill>
                <a:latin typeface="+mn-lt"/>
                <a:ea typeface="Proxima Nova" charset="0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76B043"/>
              </a:buClr>
              <a:buFont typeface="Arial"/>
              <a:buChar char="•"/>
              <a:defRPr sz="1350" b="0" i="0" kern="1200" baseline="0">
                <a:solidFill>
                  <a:schemeClr val="tx1"/>
                </a:solidFill>
                <a:latin typeface="+mn-lt"/>
                <a:ea typeface="Proxima Nova" charset="0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85800" rtl="0" eaLnBrk="1" fontAlgn="base" latinLnBrk="0" hangingPunct="1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>
                <a:srgbClr val="76B043"/>
              </a:buClr>
              <a:buSzTx/>
              <a:buFont typeface="Arial"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Arial" panose="020B0604020202020204" pitchFamily="34" charset="0"/>
              </a:rPr>
              <a:t>Split the image 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Arial" panose="020B0604020202020204" pitchFamily="34" charset="0"/>
              </a:rPr>
              <a:t>into equal parts…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7D42336-42F0-070A-C75F-77AB730D75AF}"/>
              </a:ext>
            </a:extLst>
          </p:cNvPr>
          <p:cNvSpPr txBox="1">
            <a:spLocks/>
          </p:cNvSpPr>
          <p:nvPr/>
        </p:nvSpPr>
        <p:spPr bwMode="auto">
          <a:xfrm>
            <a:off x="3338006" y="1749824"/>
            <a:ext cx="1459803" cy="810491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ts val="300"/>
              </a:spcBef>
              <a:spcAft>
                <a:spcPts val="30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ts val="300"/>
              </a:spcBef>
              <a:spcAft>
                <a:spcPts val="300"/>
              </a:spcAft>
              <a:buChar char="–"/>
              <a:defRPr sz="2000">
                <a:solidFill>
                  <a:schemeClr val="accent3">
                    <a:lumMod val="50000"/>
                  </a:schemeClr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ts val="300"/>
              </a:spcBef>
              <a:spcAft>
                <a:spcPts val="300"/>
              </a:spcAft>
              <a:buChar char="•"/>
              <a:defRPr sz="2000">
                <a:solidFill>
                  <a:schemeClr val="accent6">
                    <a:lumMod val="50000"/>
                  </a:schemeClr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ts val="300"/>
              </a:spcBef>
              <a:spcAft>
                <a:spcPts val="300"/>
              </a:spcAft>
              <a:buChar char="–"/>
              <a:defRPr sz="2000">
                <a:solidFill>
                  <a:schemeClr val="accent5">
                    <a:lumMod val="50000"/>
                  </a:schemeClr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ts val="300"/>
              </a:spcBef>
              <a:spcAft>
                <a:spcPts val="30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Augment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the data… 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FF49E96-DCCF-A499-70DE-48996E745F85}"/>
              </a:ext>
            </a:extLst>
          </p:cNvPr>
          <p:cNvSpPr txBox="1">
            <a:spLocks/>
          </p:cNvSpPr>
          <p:nvPr/>
        </p:nvSpPr>
        <p:spPr bwMode="auto">
          <a:xfrm>
            <a:off x="5013015" y="1569610"/>
            <a:ext cx="1650178" cy="69211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ts val="300"/>
              </a:spcBef>
              <a:spcAft>
                <a:spcPts val="30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ts val="300"/>
              </a:spcBef>
              <a:spcAft>
                <a:spcPts val="300"/>
              </a:spcAft>
              <a:buChar char="–"/>
              <a:defRPr sz="2000">
                <a:solidFill>
                  <a:schemeClr val="accent3">
                    <a:lumMod val="50000"/>
                  </a:schemeClr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ts val="300"/>
              </a:spcBef>
              <a:spcAft>
                <a:spcPts val="300"/>
              </a:spcAft>
              <a:buChar char="•"/>
              <a:defRPr sz="2000">
                <a:solidFill>
                  <a:schemeClr val="accent6">
                    <a:lumMod val="50000"/>
                  </a:schemeClr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ts val="300"/>
              </a:spcBef>
              <a:spcAft>
                <a:spcPts val="300"/>
              </a:spcAft>
              <a:buChar char="–"/>
              <a:defRPr sz="2000">
                <a:solidFill>
                  <a:schemeClr val="accent5">
                    <a:lumMod val="50000"/>
                  </a:schemeClr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ts val="300"/>
              </a:spcBef>
              <a:spcAft>
                <a:spcPts val="30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Run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through the reservoirs… 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15C8B74-0663-AB3E-343F-A1A653E8C187}"/>
              </a:ext>
            </a:extLst>
          </p:cNvPr>
          <p:cNvSpPr txBox="1">
            <a:spLocks/>
          </p:cNvSpPr>
          <p:nvPr/>
        </p:nvSpPr>
        <p:spPr bwMode="auto">
          <a:xfrm>
            <a:off x="7506558" y="1569610"/>
            <a:ext cx="1743941" cy="8866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ts val="300"/>
              </a:spcBef>
              <a:spcAft>
                <a:spcPts val="30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ts val="300"/>
              </a:spcBef>
              <a:spcAft>
                <a:spcPts val="300"/>
              </a:spcAft>
              <a:buChar char="–"/>
              <a:defRPr sz="2000">
                <a:solidFill>
                  <a:schemeClr val="accent3">
                    <a:lumMod val="50000"/>
                  </a:schemeClr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ts val="300"/>
              </a:spcBef>
              <a:spcAft>
                <a:spcPts val="300"/>
              </a:spcAft>
              <a:buChar char="•"/>
              <a:defRPr sz="2000">
                <a:solidFill>
                  <a:schemeClr val="accent6">
                    <a:lumMod val="50000"/>
                  </a:schemeClr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ts val="300"/>
              </a:spcBef>
              <a:spcAft>
                <a:spcPts val="300"/>
              </a:spcAft>
              <a:buChar char="–"/>
              <a:defRPr sz="2000">
                <a:solidFill>
                  <a:schemeClr val="accent5">
                    <a:lumMod val="50000"/>
                  </a:schemeClr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ts val="300"/>
              </a:spcBef>
              <a:spcAft>
                <a:spcPts val="30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Faster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ESN performance!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F422913-D874-BFB1-0195-DE6E007922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2066" y="2155070"/>
            <a:ext cx="8253652" cy="3131913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6B06F7-2C0A-42AF-AB07-A8A17049D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-128"/>
                <a:cs typeface="+mn-cs"/>
              </a:rPr>
              <a:t>AVT-341 Fall 2022 PBM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ＭＳ Ｐゴシック" charset="-128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0B25E1-0D7E-4877-AB2D-43E6DF1604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-128"/>
                <a:cs typeface="+mn-cs"/>
              </a:rPr>
              <a:t>NATO Unclassified + EOP + CHL + ZAF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ＭＳ Ｐゴシック" charset="-128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34187A-A955-4831-9079-8CDA0EB536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ＭＳ Ｐゴシック" charset="-128"/>
                <a:cs typeface="+mn-cs"/>
              </a:rPr>
              <a:t>Slide </a:t>
            </a:r>
            <a:fld id="{087A7899-A788-4C18-95AE-3273B8310EF3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ＭＳ Ｐゴシック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itchFamily="34" charset="0"/>
              <a:ea typeface="ＭＳ Ｐゴシック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60716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1E432D4-A279-0748-1436-5519F61E8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Modified ESN for Image Data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FBDBAF96-2E97-0628-FDDC-BC09CB50A3B8}"/>
              </a:ext>
            </a:extLst>
          </p:cNvPr>
          <p:cNvSpPr txBox="1">
            <a:spLocks/>
          </p:cNvSpPr>
          <p:nvPr/>
        </p:nvSpPr>
        <p:spPr>
          <a:xfrm>
            <a:off x="609600" y="1709352"/>
            <a:ext cx="6500388" cy="1196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15504" indent="-215504" algn="l" defTabSz="685800" rtl="0" eaLnBrk="1" latinLnBrk="0" hangingPunct="1">
              <a:lnSpc>
                <a:spcPct val="100000"/>
              </a:lnSpc>
              <a:spcBef>
                <a:spcPts val="750"/>
              </a:spcBef>
              <a:buClr>
                <a:srgbClr val="76B043"/>
              </a:buClr>
              <a:buFont typeface="Arial" charset="0"/>
              <a:buChar char="•"/>
              <a:tabLst/>
              <a:defRPr sz="2100" b="0" i="0" kern="1200" baseline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561975" indent="-219075" algn="l" defTabSz="685800" rtl="0" eaLnBrk="1" latinLnBrk="0" hangingPunct="1">
              <a:lnSpc>
                <a:spcPct val="100000"/>
              </a:lnSpc>
              <a:spcBef>
                <a:spcPts val="375"/>
              </a:spcBef>
              <a:buClr>
                <a:srgbClr val="76B043"/>
              </a:buClr>
              <a:buFont typeface="Arial" charset="0"/>
              <a:buChar char="•"/>
              <a:tabLst/>
              <a:defRPr sz="1800" b="0" i="0" kern="1200" baseline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900113" indent="-214313" algn="l" defTabSz="685800" rtl="0" eaLnBrk="1" latinLnBrk="0" hangingPunct="1">
              <a:lnSpc>
                <a:spcPct val="100000"/>
              </a:lnSpc>
              <a:spcBef>
                <a:spcPts val="375"/>
              </a:spcBef>
              <a:buClr>
                <a:srgbClr val="76B043"/>
              </a:buClr>
              <a:buFont typeface="Arial" charset="0"/>
              <a:buChar char="•"/>
              <a:tabLst/>
              <a:defRPr sz="1500" b="0" i="0" kern="1200" baseline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246585" indent="-217885" algn="l" defTabSz="685800" rtl="0" eaLnBrk="1" latinLnBrk="0" hangingPunct="1">
              <a:lnSpc>
                <a:spcPct val="100000"/>
              </a:lnSpc>
              <a:spcBef>
                <a:spcPts val="375"/>
              </a:spcBef>
              <a:buClr>
                <a:srgbClr val="76B043"/>
              </a:buClr>
              <a:buFont typeface="Arial" charset="0"/>
              <a:buChar char="•"/>
              <a:tabLst/>
              <a:defRPr sz="1350" b="0" i="0" kern="1200" baseline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1593056" indent="-221456" algn="l" defTabSz="685800" rtl="0" eaLnBrk="1" latinLnBrk="0" hangingPunct="1">
              <a:lnSpc>
                <a:spcPct val="100000"/>
              </a:lnSpc>
              <a:spcBef>
                <a:spcPts val="375"/>
              </a:spcBef>
              <a:buClr>
                <a:srgbClr val="76B043"/>
              </a:buClr>
              <a:buFont typeface="Arial" charset="0"/>
              <a:buChar char="•"/>
              <a:tabLst/>
              <a:defRPr sz="1350" b="0" i="0" kern="1200" baseline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5504" marR="0" lvl="0" indent="-215504" algn="l" defTabSz="685800" rtl="0" eaLnBrk="1" fontAlgn="base" latinLnBrk="0" hangingPunct="1">
              <a:lnSpc>
                <a:spcPct val="100000"/>
              </a:lnSpc>
              <a:spcBef>
                <a:spcPts val="750"/>
              </a:spcBef>
              <a:spcAft>
                <a:spcPct val="0"/>
              </a:spcAft>
              <a:buClr>
                <a:srgbClr val="76B043"/>
              </a:buClr>
              <a:buSzTx/>
              <a:buFont typeface="Arial" charset="0"/>
              <a:buChar char="•"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ESN programmed in MATLAB</a:t>
            </a:r>
          </a:p>
          <a:p>
            <a:pPr marL="215504" marR="0" lvl="0" indent="-215504" algn="l" defTabSz="685800" rtl="0" eaLnBrk="1" fontAlgn="base" latinLnBrk="0" hangingPunct="1">
              <a:lnSpc>
                <a:spcPct val="100000"/>
              </a:lnSpc>
              <a:spcBef>
                <a:spcPts val="750"/>
              </a:spcBef>
              <a:spcAft>
                <a:spcPct val="0"/>
              </a:spcAft>
              <a:buClr>
                <a:srgbClr val="76B043"/>
              </a:buClr>
              <a:buSzTx/>
              <a:buFont typeface="Arial" charset="0"/>
              <a:buChar char="•"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Robot Unstructured Ground Driving (RUGD) Dataset</a:t>
            </a:r>
            <a:r>
              <a:rPr kumimoji="0" lang="en-US" sz="21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[11]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9681488-A24D-D7F9-0AF9-1C20FA62D9AB}"/>
              </a:ext>
            </a:extLst>
          </p:cNvPr>
          <p:cNvGraphicFramePr>
            <a:graphicFrameLocks noGrp="1"/>
          </p:cNvGraphicFramePr>
          <p:nvPr/>
        </p:nvGraphicFramePr>
        <p:xfrm>
          <a:off x="8075623" y="1790134"/>
          <a:ext cx="3289305" cy="3343275"/>
        </p:xfrm>
        <a:graphic>
          <a:graphicData uri="http://schemas.openxmlformats.org/drawingml/2006/table">
            <a:tbl>
              <a:tblPr firstRow="1" bandRow="1">
                <a:tableStyleId>{85BE263C-DBD7-4A20-BB59-AAB30ACAA65A}</a:tableStyleId>
              </a:tblPr>
              <a:tblGrid>
                <a:gridCol w="2146305">
                  <a:extLst>
                    <a:ext uri="{9D8B030D-6E8A-4147-A177-3AD203B41FA5}">
                      <a16:colId xmlns:a16="http://schemas.microsoft.com/office/drawing/2014/main" val="634465478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3967909555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r>
                        <a:rPr lang="en-US" dirty="0"/>
                        <a:t>ESN Parameters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7539808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r>
                        <a:rPr lang="en-US" dirty="0"/>
                        <a:t>Train/Test</a:t>
                      </a:r>
                      <a:r>
                        <a:rPr lang="en-US" baseline="0" dirty="0"/>
                        <a:t> Samples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592793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r>
                        <a:rPr lang="en-US" dirty="0"/>
                        <a:t>Neuron</a:t>
                      </a:r>
                      <a:r>
                        <a:rPr lang="en-US" baseline="0" dirty="0"/>
                        <a:t>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9862119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r>
                        <a:rPr lang="en-US" dirty="0"/>
                        <a:t>Parallel</a:t>
                      </a:r>
                      <a:r>
                        <a:rPr lang="en-US" baseline="0" dirty="0"/>
                        <a:t> Reservoirs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602382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r>
                        <a:rPr lang="en-US" dirty="0"/>
                        <a:t>Input Scaling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0.0002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325662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r>
                        <a:rPr lang="en-US" dirty="0"/>
                        <a:t>Spectral Radius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0281654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r>
                        <a:rPr lang="en-US" dirty="0"/>
                        <a:t>Learning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511541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r>
                        <a:rPr lang="en-US" dirty="0"/>
                        <a:t>Time Steps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0502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r>
                        <a:rPr lang="en-US" dirty="0"/>
                        <a:t>Res. Connectivity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8753572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B4E916D2-3487-30FD-2FA1-0DD34DF93CF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554" r="33446" b="23477"/>
          <a:stretch/>
        </p:blipFill>
        <p:spPr>
          <a:xfrm>
            <a:off x="609600" y="3012917"/>
            <a:ext cx="6500388" cy="355609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2CB5083-8E80-65B7-4CF9-625505ABE8ED}"/>
              </a:ext>
            </a:extLst>
          </p:cNvPr>
          <p:cNvSpPr txBox="1"/>
          <p:nvPr/>
        </p:nvSpPr>
        <p:spPr>
          <a:xfrm>
            <a:off x="7705375" y="5380190"/>
            <a:ext cx="4613944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ＭＳ Ｐゴシック" charset="-128"/>
                <a:cs typeface="+mn-cs"/>
              </a:rPr>
              <a:t>[11]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ＭＳ Ｐゴシック" charset="-128"/>
                <a:cs typeface="+mn-cs"/>
              </a:rPr>
              <a:t>Wigness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ＭＳ Ｐゴシック" charset="-128"/>
                <a:cs typeface="+mn-cs"/>
              </a:rPr>
              <a:t>, M.,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ＭＳ Ｐゴシック" charset="-128"/>
                <a:cs typeface="+mn-cs"/>
              </a:rPr>
              <a:t>Eum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ＭＳ Ｐゴシック" charset="-128"/>
                <a:cs typeface="+mn-cs"/>
              </a:rPr>
              <a:t>, S., Rogers, J. G., Han, D., &amp; Kwon, H. (2019). </a:t>
            </a: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ＭＳ Ｐゴシック" charset="-128"/>
                <a:cs typeface="+mn-cs"/>
              </a:rPr>
              <a:t>A RUGD Dataset for Autonomous Navigation and Visual Perception in Unstructured Outdoor Environments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ＭＳ Ｐゴシック" charset="-128"/>
                <a:cs typeface="+mn-cs"/>
              </a:rPr>
              <a:t>.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84E304-C3B3-45D7-A311-DB3594CF3E1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-128"/>
                <a:cs typeface="+mn-cs"/>
              </a:rPr>
              <a:t>AVT-341 Fall 2022 PBM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ＭＳ Ｐゴシック" charset="-128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86FFEF-5629-4627-B507-814280D443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-128"/>
                <a:cs typeface="+mn-cs"/>
              </a:rPr>
              <a:t>NATO Unclassified + EOP + CHL + ZAF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ＭＳ Ｐゴシック" charset="-128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C20A35-BAE3-4DD3-8C32-C2F3531F03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ＭＳ Ｐゴシック" charset="-128"/>
                <a:cs typeface="+mn-cs"/>
              </a:rPr>
              <a:t>Slide </a:t>
            </a:r>
            <a:fld id="{087A7899-A788-4C18-95AE-3273B8310EF3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ＭＳ Ｐゴシック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itchFamily="34" charset="0"/>
              <a:ea typeface="ＭＳ Ｐゴシック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49261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4153426-FBD5-5876-2554-2F8D354A6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Optimization w/ Modified ESN for image data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A8C5C17-BB1A-2310-B66C-FA670A1397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75335" y="1629522"/>
            <a:ext cx="9545458" cy="508203"/>
          </a:xfrm>
        </p:spPr>
        <p:txBody>
          <a:bodyPr/>
          <a:lstStyle/>
          <a:p>
            <a:r>
              <a:rPr lang="en-US" dirty="0"/>
              <a:t>Hyperparameter optimization with grid search takes only 30 minutes!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0EFBE14-8E71-B8F4-2379-38F85549CFC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650"/>
          <a:stretch/>
        </p:blipFill>
        <p:spPr>
          <a:xfrm>
            <a:off x="2878563" y="2137725"/>
            <a:ext cx="4117944" cy="32734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424C8F2-8CAB-E641-BBE2-F7D7ADF53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7466" y="2036703"/>
            <a:ext cx="4364534" cy="3273401"/>
          </a:xfrm>
          <a:prstGeom prst="rect">
            <a:avLst/>
          </a:prstGeom>
        </p:spPr>
      </p:pic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D12DD96B-9BA2-43E5-A15B-8AD6210879A4}"/>
              </a:ext>
            </a:extLst>
          </p:cNvPr>
          <p:cNvSpPr txBox="1">
            <a:spLocks/>
          </p:cNvSpPr>
          <p:nvPr/>
        </p:nvSpPr>
        <p:spPr>
          <a:xfrm>
            <a:off x="775335" y="5353469"/>
            <a:ext cx="6754317" cy="1081785"/>
          </a:xfrm>
          <a:prstGeom prst="rect">
            <a:avLst/>
          </a:prstGeom>
        </p:spPr>
        <p:txBody>
          <a:bodyPr/>
          <a:lstStyle>
            <a:lvl1pPr marL="326578" indent="-326578" algn="l" defTabSz="435437" rtl="0" eaLnBrk="1" latinLnBrk="0" hangingPunct="1">
              <a:spcBef>
                <a:spcPct val="20000"/>
              </a:spcBef>
              <a:buClr>
                <a:srgbClr val="7F63A1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07586" indent="-272148" algn="l" defTabSz="435437" rtl="0" eaLnBrk="1" latinLnBrk="0" hangingPunct="1">
              <a:spcBef>
                <a:spcPct val="20000"/>
              </a:spcBef>
              <a:buClr>
                <a:srgbClr val="7F63A1"/>
              </a:buClr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8593" indent="-217719" algn="l" defTabSz="435437" rtl="0" eaLnBrk="1" latinLnBrk="0" hangingPunct="1">
              <a:spcBef>
                <a:spcPct val="20000"/>
              </a:spcBef>
              <a:buClr>
                <a:srgbClr val="7F63A1"/>
              </a:buClr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24030" indent="-217719" algn="l" defTabSz="435437" rtl="0" eaLnBrk="1" latinLnBrk="0" hangingPunct="1">
              <a:spcBef>
                <a:spcPct val="20000"/>
              </a:spcBef>
              <a:buClr>
                <a:srgbClr val="7F63A1"/>
              </a:buClr>
              <a:buFont typeface="Arial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59468" indent="-217719" algn="l" defTabSz="435437" rtl="0" eaLnBrk="1" latinLnBrk="0" hangingPunct="1">
              <a:spcBef>
                <a:spcPct val="20000"/>
              </a:spcBef>
              <a:buClr>
                <a:srgbClr val="7F63A1"/>
              </a:buClr>
              <a:buFont typeface="Arial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94905" indent="-217719" algn="l" defTabSz="435437" rtl="0" eaLnBrk="1" latinLnBrk="0" hangingPunct="1">
              <a:spcBef>
                <a:spcPct val="20000"/>
              </a:spcBef>
              <a:buFont typeface="Arial"/>
              <a:buChar char="•"/>
              <a:defRPr sz="17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30342" indent="-217719" algn="l" defTabSz="435437" rtl="0" eaLnBrk="1" latinLnBrk="0" hangingPunct="1">
              <a:spcBef>
                <a:spcPct val="20000"/>
              </a:spcBef>
              <a:buFont typeface="Arial"/>
              <a:buChar char="•"/>
              <a:defRPr sz="17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65780" indent="-217719" algn="l" defTabSz="435437" rtl="0" eaLnBrk="1" latinLnBrk="0" hangingPunct="1">
              <a:spcBef>
                <a:spcPct val="20000"/>
              </a:spcBef>
              <a:buFont typeface="Arial"/>
              <a:buChar char="•"/>
              <a:defRPr sz="17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01217" indent="-217719" algn="l" defTabSz="435437" rtl="0" eaLnBrk="1" latinLnBrk="0" hangingPunct="1">
              <a:spcBef>
                <a:spcPct val="20000"/>
              </a:spcBef>
              <a:buFont typeface="Arial"/>
              <a:buChar char="•"/>
              <a:defRPr sz="17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435437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Error minimum =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Times New Roman" panose="02020603050405020304" pitchFamily="18" charset="0"/>
                <a:cs typeface="+mn-cs"/>
              </a:rPr>
              <a:t>6%; Train Time =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200 s (3 min 20 s)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Times New Roman" panose="02020603050405020304" pitchFamily="18" charset="0"/>
              <a:cs typeface="+mn-cs"/>
            </a:endParaRPr>
          </a:p>
          <a:p>
            <a:pPr marL="742950" marR="0" lvl="1" indent="-285750" algn="l" defTabSz="435437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Char char="–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Times New Roman" panose="02020603050405020304" pitchFamily="18" charset="0"/>
                <a:cs typeface="+mn-cs"/>
              </a:rPr>
              <a:t>69 parallel reservoirs</a:t>
            </a:r>
          </a:p>
          <a:p>
            <a:pPr marL="742950" marR="0" lvl="1" indent="-285750" algn="l" defTabSz="435437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Char char="–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Times New Roman" panose="02020603050405020304" pitchFamily="18" charset="0"/>
                <a:cs typeface="+mn-cs"/>
              </a:rPr>
              <a:t>760 neurons per reservoir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26578" marR="0" lvl="0" indent="-326578" algn="l" defTabSz="435437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7F63A1"/>
              </a:buClr>
              <a:buSzTx/>
              <a:buFont typeface="Arial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BE7414-A1FC-47B5-8D5C-321676074120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-128"/>
                <a:cs typeface="+mn-cs"/>
              </a:rPr>
              <a:t>AVT-341 Fall 2022 PBM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ＭＳ Ｐゴシック" charset="-128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12D1F2-7059-4252-B62F-C0BE020B45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-128"/>
                <a:cs typeface="+mn-cs"/>
              </a:rPr>
              <a:t>NATO Unclassified + EOP + CHL + ZAF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ＭＳ Ｐゴシック" charset="-128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4F5628-662E-4694-8747-07F93923F3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ＭＳ Ｐゴシック" charset="-128"/>
                <a:cs typeface="+mn-cs"/>
              </a:rPr>
              <a:t>Slide </a:t>
            </a:r>
            <a:fld id="{087A7899-A788-4C18-95AE-3273B8310EF3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ＭＳ Ｐゴシック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itchFamily="34" charset="0"/>
              <a:ea typeface="ＭＳ Ｐゴシック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34183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iagram&#10;&#10;Description automatically generated">
            <a:extLst>
              <a:ext uri="{FF2B5EF4-FFF2-40B4-BE49-F238E27FC236}">
                <a16:creationId xmlns:a16="http://schemas.microsoft.com/office/drawing/2014/main" id="{CA7D8A68-1A1F-806E-7BFF-B0E86C4CCF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1683" y="963638"/>
            <a:ext cx="2329713" cy="55095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C43C6C7-CF99-D87A-68C4-24EEC0EA8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Modified ESN for Lidar Data</a:t>
            </a:r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7B4C278B-57DE-E53E-31D0-03AC00AF774F}"/>
              </a:ext>
            </a:extLst>
          </p:cNvPr>
          <p:cNvSpPr txBox="1">
            <a:spLocks/>
          </p:cNvSpPr>
          <p:nvPr/>
        </p:nvSpPr>
        <p:spPr>
          <a:xfrm>
            <a:off x="957114" y="1860968"/>
            <a:ext cx="3883429" cy="4354394"/>
          </a:xfrm>
          <a:prstGeom prst="rect">
            <a:avLst/>
          </a:prstGeom>
        </p:spPr>
        <p:txBody>
          <a:bodyPr/>
          <a:lstStyle>
            <a:lvl1pPr marL="326578" indent="-326578" algn="l" defTabSz="435437" rtl="0" eaLnBrk="1" latinLnBrk="0" hangingPunct="1">
              <a:spcBef>
                <a:spcPct val="20000"/>
              </a:spcBef>
              <a:buClr>
                <a:srgbClr val="7F63A1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07586" indent="-272148" algn="l" defTabSz="435437" rtl="0" eaLnBrk="1" latinLnBrk="0" hangingPunct="1">
              <a:spcBef>
                <a:spcPct val="20000"/>
              </a:spcBef>
              <a:buClr>
                <a:srgbClr val="7F63A1"/>
              </a:buClr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8593" indent="-217719" algn="l" defTabSz="435437" rtl="0" eaLnBrk="1" latinLnBrk="0" hangingPunct="1">
              <a:spcBef>
                <a:spcPct val="20000"/>
              </a:spcBef>
              <a:buClr>
                <a:srgbClr val="7F63A1"/>
              </a:buClr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24030" indent="-217719" algn="l" defTabSz="435437" rtl="0" eaLnBrk="1" latinLnBrk="0" hangingPunct="1">
              <a:spcBef>
                <a:spcPct val="20000"/>
              </a:spcBef>
              <a:buClr>
                <a:srgbClr val="7F63A1"/>
              </a:buClr>
              <a:buFont typeface="Arial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59468" indent="-217719" algn="l" defTabSz="435437" rtl="0" eaLnBrk="1" latinLnBrk="0" hangingPunct="1">
              <a:spcBef>
                <a:spcPct val="20000"/>
              </a:spcBef>
              <a:buClr>
                <a:srgbClr val="7F63A1"/>
              </a:buClr>
              <a:buFont typeface="Arial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94905" indent="-217719" algn="l" defTabSz="435437" rtl="0" eaLnBrk="1" latinLnBrk="0" hangingPunct="1">
              <a:spcBef>
                <a:spcPct val="20000"/>
              </a:spcBef>
              <a:buFont typeface="Arial"/>
              <a:buChar char="•"/>
              <a:defRPr sz="17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30342" indent="-217719" algn="l" defTabSz="435437" rtl="0" eaLnBrk="1" latinLnBrk="0" hangingPunct="1">
              <a:spcBef>
                <a:spcPct val="20000"/>
              </a:spcBef>
              <a:buFont typeface="Arial"/>
              <a:buChar char="•"/>
              <a:defRPr sz="17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65780" indent="-217719" algn="l" defTabSz="435437" rtl="0" eaLnBrk="1" latinLnBrk="0" hangingPunct="1">
              <a:spcBef>
                <a:spcPct val="20000"/>
              </a:spcBef>
              <a:buFont typeface="Arial"/>
              <a:buChar char="•"/>
              <a:defRPr sz="17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01217" indent="-217719" algn="l" defTabSz="435437" rtl="0" eaLnBrk="1" latinLnBrk="0" hangingPunct="1">
              <a:spcBef>
                <a:spcPct val="20000"/>
              </a:spcBef>
              <a:buFont typeface="Arial"/>
              <a:buChar char="•"/>
              <a:defRPr sz="17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26578" marR="0" lvl="0" indent="-326578" algn="l" defTabSz="435437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ROS2 input and output</a:t>
            </a:r>
          </a:p>
          <a:p>
            <a:pPr marL="326578" marR="0" lvl="0" indent="-326578" algn="l" defTabSz="435437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PointCloud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input features</a:t>
            </a:r>
          </a:p>
          <a:p>
            <a:pPr marL="707586" marR="0" lvl="1" indent="-272148" algn="l" defTabSz="435437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[x y z intensity]</a:t>
            </a:r>
          </a:p>
          <a:p>
            <a:pPr marL="707586" marR="0" lvl="1" indent="-272148" algn="l" defTabSz="435437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Other features exist</a:t>
            </a:r>
          </a:p>
          <a:p>
            <a:pPr marL="326578" marR="0" lvl="0" indent="-326578" algn="l" defTabSz="435437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PointCloud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sizes</a:t>
            </a:r>
          </a:p>
          <a:p>
            <a:pPr marL="707586" marR="0" lvl="1" indent="-272148" algn="l" defTabSz="435437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4.2 MB / PCL</a:t>
            </a:r>
          </a:p>
          <a:p>
            <a:pPr marL="707586" marR="0" lvl="1" indent="-272148" algn="l" defTabSz="435437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 times camera image size</a:t>
            </a:r>
          </a:p>
          <a:p>
            <a:pPr marL="326578" marR="0" lvl="0" indent="-326578" algn="l" defTabSz="435437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Gaussian Noise</a:t>
            </a:r>
          </a:p>
          <a:p>
            <a:pPr marL="707586" marR="0" lvl="1" indent="-272148" algn="l" defTabSz="435437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SNR = 10 (not optimized)</a:t>
            </a:r>
          </a:p>
          <a:p>
            <a:pPr marL="707586" marR="0" lvl="1" indent="-272148" algn="l" defTabSz="435437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7F63A1"/>
              </a:buClr>
              <a:buSzTx/>
              <a:buFont typeface="Arial"/>
              <a:buChar char="–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292EB47-2068-3213-CBBD-39B6F42352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655" y="963638"/>
            <a:ext cx="1591432" cy="5251724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ED7359-2A50-4AE0-B896-B5CCB5F2632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-128"/>
                <a:cs typeface="+mn-cs"/>
              </a:rPr>
              <a:t>AVT-341 Fall 2022 PBM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ＭＳ Ｐゴシック" charset="-128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09A8C4-2C06-4A72-B385-013E5B87D6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-128"/>
                <a:cs typeface="+mn-cs"/>
              </a:rPr>
              <a:t>NATO Unclassified + EOP + CHL + ZAF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ＭＳ Ｐゴシック" charset="-128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B62B41-759B-4BA1-963D-61203448CC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ＭＳ Ｐゴシック" charset="-128"/>
                <a:cs typeface="+mn-cs"/>
              </a:rPr>
              <a:t>Slide </a:t>
            </a:r>
            <a:fld id="{087A7899-A788-4C18-95AE-3273B8310EF3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ＭＳ Ｐゴシック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itchFamily="34" charset="0"/>
              <a:ea typeface="ＭＳ Ｐゴシック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27451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B6A21-80B1-F0BC-7926-461C69F99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Modified ESN for Lidar data</a:t>
            </a:r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2C8FD481-7093-AD49-4604-6337014C739B}"/>
              </a:ext>
            </a:extLst>
          </p:cNvPr>
          <p:cNvSpPr txBox="1">
            <a:spLocks/>
          </p:cNvSpPr>
          <p:nvPr/>
        </p:nvSpPr>
        <p:spPr>
          <a:xfrm>
            <a:off x="1089115" y="2073332"/>
            <a:ext cx="4572000" cy="39622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15504" indent="-215504" algn="l" defTabSz="685800" rtl="0" eaLnBrk="1" latinLnBrk="0" hangingPunct="1">
              <a:lnSpc>
                <a:spcPct val="100000"/>
              </a:lnSpc>
              <a:spcBef>
                <a:spcPts val="750"/>
              </a:spcBef>
              <a:buClr>
                <a:srgbClr val="76B043"/>
              </a:buClr>
              <a:buFont typeface="Arial" charset="0"/>
              <a:buChar char="•"/>
              <a:tabLst/>
              <a:defRPr sz="2100" b="0" i="0" kern="1200" baseline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561975" indent="-219075" algn="l" defTabSz="685800" rtl="0" eaLnBrk="1" latinLnBrk="0" hangingPunct="1">
              <a:lnSpc>
                <a:spcPct val="100000"/>
              </a:lnSpc>
              <a:spcBef>
                <a:spcPts val="375"/>
              </a:spcBef>
              <a:buClr>
                <a:srgbClr val="76B043"/>
              </a:buClr>
              <a:buFont typeface="Arial" charset="0"/>
              <a:buChar char="•"/>
              <a:tabLst/>
              <a:defRPr sz="1800" b="0" i="0" kern="1200" baseline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900113" indent="-214313" algn="l" defTabSz="685800" rtl="0" eaLnBrk="1" latinLnBrk="0" hangingPunct="1">
              <a:lnSpc>
                <a:spcPct val="100000"/>
              </a:lnSpc>
              <a:spcBef>
                <a:spcPts val="375"/>
              </a:spcBef>
              <a:buClr>
                <a:srgbClr val="76B043"/>
              </a:buClr>
              <a:buFont typeface="Arial" charset="0"/>
              <a:buChar char="•"/>
              <a:tabLst/>
              <a:defRPr sz="1500" b="0" i="0" kern="1200" baseline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246585" indent="-217885" algn="l" defTabSz="685800" rtl="0" eaLnBrk="1" latinLnBrk="0" hangingPunct="1">
              <a:lnSpc>
                <a:spcPct val="100000"/>
              </a:lnSpc>
              <a:spcBef>
                <a:spcPts val="375"/>
              </a:spcBef>
              <a:buClr>
                <a:srgbClr val="76B043"/>
              </a:buClr>
              <a:buFont typeface="Arial" charset="0"/>
              <a:buChar char="•"/>
              <a:tabLst/>
              <a:defRPr sz="1350" b="0" i="0" kern="1200" baseline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1593056" indent="-221456" algn="l" defTabSz="685800" rtl="0" eaLnBrk="1" latinLnBrk="0" hangingPunct="1">
              <a:lnSpc>
                <a:spcPct val="100000"/>
              </a:lnSpc>
              <a:spcBef>
                <a:spcPts val="375"/>
              </a:spcBef>
              <a:buClr>
                <a:srgbClr val="76B043"/>
              </a:buClr>
              <a:buFont typeface="Arial" charset="0"/>
              <a:buChar char="•"/>
              <a:tabLst/>
              <a:defRPr sz="1350" b="0" i="0" kern="1200" baseline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ts val="750"/>
              </a:spcBef>
              <a:spcAft>
                <a:spcPct val="0"/>
              </a:spcAft>
              <a:buClr>
                <a:srgbClr val="76B043"/>
              </a:buClr>
              <a:buSzTx/>
              <a:buFont typeface="Arial" charset="0"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RELLIS-3D Dataset</a:t>
            </a:r>
            <a:r>
              <a:rPr kumimoji="0" lang="en-US" sz="21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44F58E-1C35-8E07-E4AC-7A0EFAA0AB07}"/>
              </a:ext>
            </a:extLst>
          </p:cNvPr>
          <p:cNvSpPr txBox="1"/>
          <p:nvPr/>
        </p:nvSpPr>
        <p:spPr>
          <a:xfrm>
            <a:off x="7341590" y="5293921"/>
            <a:ext cx="415640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ＭＳ Ｐゴシック" charset="-128"/>
                <a:cs typeface="+mn-cs"/>
              </a:rPr>
              <a:t>*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ＭＳ Ｐゴシック" charset="-128"/>
                <a:cs typeface="+mn-cs"/>
              </a:rPr>
              <a:t>Jiang and al., “RELLIS-3D Dataset: Data, Benchmarks and Analysis”,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ＭＳ Ｐゴシック" charset="-128"/>
                <a:cs typeface="+mn-cs"/>
              </a:rPr>
              <a:t>arXiv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ＭＳ Ｐゴシック" charset="-128"/>
                <a:cs typeface="+mn-cs"/>
              </a:rPr>
              <a:t>, 2020 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786DFBC6-3D6F-D61B-B20E-B03BD65D8A04}"/>
              </a:ext>
            </a:extLst>
          </p:cNvPr>
          <p:cNvSpPr txBox="1">
            <a:spLocks/>
          </p:cNvSpPr>
          <p:nvPr/>
        </p:nvSpPr>
        <p:spPr>
          <a:xfrm>
            <a:off x="7619886" y="1994538"/>
            <a:ext cx="3761295" cy="833662"/>
          </a:xfrm>
          <a:prstGeom prst="rect">
            <a:avLst/>
          </a:prstGeom>
        </p:spPr>
        <p:txBody>
          <a:bodyPr/>
          <a:lstStyle>
            <a:lvl1pPr marL="326578" indent="-326578" algn="l" defTabSz="435437" rtl="0" eaLnBrk="1" latinLnBrk="0" hangingPunct="1">
              <a:spcBef>
                <a:spcPct val="20000"/>
              </a:spcBef>
              <a:buClr>
                <a:srgbClr val="7F63A1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07586" indent="-272148" algn="l" defTabSz="435437" rtl="0" eaLnBrk="1" latinLnBrk="0" hangingPunct="1">
              <a:spcBef>
                <a:spcPct val="20000"/>
              </a:spcBef>
              <a:buClr>
                <a:srgbClr val="7F63A1"/>
              </a:buClr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8593" indent="-217719" algn="l" defTabSz="435437" rtl="0" eaLnBrk="1" latinLnBrk="0" hangingPunct="1">
              <a:spcBef>
                <a:spcPct val="20000"/>
              </a:spcBef>
              <a:buClr>
                <a:srgbClr val="7F63A1"/>
              </a:buClr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24030" indent="-217719" algn="l" defTabSz="435437" rtl="0" eaLnBrk="1" latinLnBrk="0" hangingPunct="1">
              <a:spcBef>
                <a:spcPct val="20000"/>
              </a:spcBef>
              <a:buClr>
                <a:srgbClr val="7F63A1"/>
              </a:buClr>
              <a:buFont typeface="Arial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59468" indent="-217719" algn="l" defTabSz="435437" rtl="0" eaLnBrk="1" latinLnBrk="0" hangingPunct="1">
              <a:spcBef>
                <a:spcPct val="20000"/>
              </a:spcBef>
              <a:buClr>
                <a:srgbClr val="7F63A1"/>
              </a:buClr>
              <a:buFont typeface="Arial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94905" indent="-217719" algn="l" defTabSz="435437" rtl="0" eaLnBrk="1" latinLnBrk="0" hangingPunct="1">
              <a:spcBef>
                <a:spcPct val="20000"/>
              </a:spcBef>
              <a:buFont typeface="Arial"/>
              <a:buChar char="•"/>
              <a:defRPr sz="17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30342" indent="-217719" algn="l" defTabSz="435437" rtl="0" eaLnBrk="1" latinLnBrk="0" hangingPunct="1">
              <a:spcBef>
                <a:spcPct val="20000"/>
              </a:spcBef>
              <a:buFont typeface="Arial"/>
              <a:buChar char="•"/>
              <a:defRPr sz="17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65780" indent="-217719" algn="l" defTabSz="435437" rtl="0" eaLnBrk="1" latinLnBrk="0" hangingPunct="1">
              <a:spcBef>
                <a:spcPct val="20000"/>
              </a:spcBef>
              <a:buFont typeface="Arial"/>
              <a:buChar char="•"/>
              <a:defRPr sz="17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01217" indent="-217719" algn="l" defTabSz="435437" rtl="0" eaLnBrk="1" latinLnBrk="0" hangingPunct="1">
              <a:spcBef>
                <a:spcPct val="20000"/>
              </a:spcBef>
              <a:buFont typeface="Arial"/>
              <a:buChar char="•"/>
              <a:defRPr sz="17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26578" marR="0" lvl="0" indent="-326578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Programmed in MATLAB</a:t>
            </a:r>
          </a:p>
          <a:p>
            <a:pPr marL="326578" marR="0" lvl="0" indent="-326578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24 classes relabeled to 4</a:t>
            </a:r>
          </a:p>
        </p:txBody>
      </p:sp>
      <p:graphicFrame>
        <p:nvGraphicFramePr>
          <p:cNvPr id="7" name="Table 32">
            <a:extLst>
              <a:ext uri="{FF2B5EF4-FFF2-40B4-BE49-F238E27FC236}">
                <a16:creationId xmlns:a16="http://schemas.microsoft.com/office/drawing/2014/main" id="{8D8129FC-9E30-83B7-09C8-8AAC0CA844E5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7341590" y="3032040"/>
          <a:ext cx="4156401" cy="18542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385467">
                  <a:extLst>
                    <a:ext uri="{9D8B030D-6E8A-4147-A177-3AD203B41FA5}">
                      <a16:colId xmlns:a16="http://schemas.microsoft.com/office/drawing/2014/main" val="4079066884"/>
                    </a:ext>
                  </a:extLst>
                </a:gridCol>
                <a:gridCol w="1468556">
                  <a:extLst>
                    <a:ext uri="{9D8B030D-6E8A-4147-A177-3AD203B41FA5}">
                      <a16:colId xmlns:a16="http://schemas.microsoft.com/office/drawing/2014/main" val="2662041827"/>
                    </a:ext>
                  </a:extLst>
                </a:gridCol>
                <a:gridCol w="1302378">
                  <a:extLst>
                    <a:ext uri="{9D8B030D-6E8A-4147-A177-3AD203B41FA5}">
                      <a16:colId xmlns:a16="http://schemas.microsoft.com/office/drawing/2014/main" val="15375624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Trafficability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RGB Color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Cost Value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51801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High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[0, 255, 0]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62109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[255, 255, 0]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0.33</a:t>
                      </a: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94770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[255, 128, 0]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0.67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96069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Zero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[255, 0, 0]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0624916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FD6210B3-676B-CB6B-ECBB-ED63C579D83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8723" b="13241"/>
          <a:stretch/>
        </p:blipFill>
        <p:spPr>
          <a:xfrm>
            <a:off x="954039" y="2469553"/>
            <a:ext cx="4842151" cy="3687183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A19221-060C-4E68-BFF0-719B744D34C4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-128"/>
                <a:cs typeface="+mn-cs"/>
              </a:rPr>
              <a:t>AVT-341 Fall 2022 PBM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ＭＳ Ｐゴシック" charset="-128"/>
              <a:cs typeface="+mn-cs"/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39295E04-F370-4320-912E-E82F44D0D4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-128"/>
                <a:cs typeface="+mn-cs"/>
              </a:rPr>
              <a:t>NATO Unclassified + EOP + CHL + ZAF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ＭＳ Ｐゴシック" charset="-128"/>
              <a:cs typeface="+mn-cs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0CE9FBC-8CC8-42DC-901D-82836456A6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ＭＳ Ｐゴシック" charset="-128"/>
                <a:cs typeface="+mn-cs"/>
              </a:rPr>
              <a:t>Slide </a:t>
            </a:r>
            <a:fld id="{087A7899-A788-4C18-95AE-3273B8310EF3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ＭＳ Ｐゴシック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itchFamily="34" charset="0"/>
              <a:ea typeface="ＭＳ Ｐゴシック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78028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238DD-2572-63F6-832E-6FF634CED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Modified ESN for Lidar data</a:t>
            </a:r>
          </a:p>
        </p:txBody>
      </p:sp>
      <p:pic>
        <p:nvPicPr>
          <p:cNvPr id="4" name="Picture 3" descr="Chart&#10;&#10;Description automatically generated">
            <a:extLst>
              <a:ext uri="{FF2B5EF4-FFF2-40B4-BE49-F238E27FC236}">
                <a16:creationId xmlns:a16="http://schemas.microsoft.com/office/drawing/2014/main" id="{349DDDE9-CDA4-05D7-9CC1-E91F792029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3336" y="963638"/>
            <a:ext cx="3066842" cy="561314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" name="Table 32">
            <a:extLst>
              <a:ext uri="{FF2B5EF4-FFF2-40B4-BE49-F238E27FC236}">
                <a16:creationId xmlns:a16="http://schemas.microsoft.com/office/drawing/2014/main" id="{CC194496-EE86-64AE-B554-2D5DDEEEE634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769719" y="4626182"/>
          <a:ext cx="4300380" cy="1731223"/>
        </p:xfrm>
        <a:graphic>
          <a:graphicData uri="http://schemas.openxmlformats.org/drawingml/2006/table">
            <a:tbl>
              <a:tblPr firstRow="1" bandRow="1">
                <a:tableStyleId>{85BE263C-DBD7-4A20-BB59-AAB30ACAA65A}</a:tableStyleId>
              </a:tblPr>
              <a:tblGrid>
                <a:gridCol w="2150190">
                  <a:extLst>
                    <a:ext uri="{9D8B030D-6E8A-4147-A177-3AD203B41FA5}">
                      <a16:colId xmlns:a16="http://schemas.microsoft.com/office/drawing/2014/main" val="4079066884"/>
                    </a:ext>
                  </a:extLst>
                </a:gridCol>
                <a:gridCol w="2150190">
                  <a:extLst>
                    <a:ext uri="{9D8B030D-6E8A-4147-A177-3AD203B41FA5}">
                      <a16:colId xmlns:a16="http://schemas.microsoft.com/office/drawing/2014/main" val="3093518859"/>
                    </a:ext>
                  </a:extLst>
                </a:gridCol>
              </a:tblGrid>
              <a:tr h="36144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Criteria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Performance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5180188"/>
                  </a:ext>
                </a:extLst>
              </a:tr>
              <a:tr h="366466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Avg. Class.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83.1%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6210952"/>
                  </a:ext>
                </a:extLst>
              </a:tr>
              <a:tr h="366466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Training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31 min.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9477097"/>
                  </a:ext>
                </a:extLst>
              </a:tr>
              <a:tr h="632531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Avg. Class.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1.9 sec.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9606994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974567A-8FDB-CC4C-A555-87209AF07FE5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145438" y="1918659"/>
          <a:ext cx="3548942" cy="2417664"/>
        </p:xfrm>
        <a:graphic>
          <a:graphicData uri="http://schemas.openxmlformats.org/drawingml/2006/table">
            <a:tbl>
              <a:tblPr firstRow="1" firstCol="1" bandRow="1"/>
              <a:tblGrid>
                <a:gridCol w="2645276">
                  <a:extLst>
                    <a:ext uri="{9D8B030D-6E8A-4147-A177-3AD203B41FA5}">
                      <a16:colId xmlns:a16="http://schemas.microsoft.com/office/drawing/2014/main" val="1372760025"/>
                    </a:ext>
                  </a:extLst>
                </a:gridCol>
                <a:gridCol w="903666">
                  <a:extLst>
                    <a:ext uri="{9D8B030D-6E8A-4147-A177-3AD203B41FA5}">
                      <a16:colId xmlns:a16="http://schemas.microsoft.com/office/drawing/2014/main" val="2077383151"/>
                    </a:ext>
                  </a:extLst>
                </a:gridCol>
              </a:tblGrid>
              <a:tr h="302208">
                <a:tc>
                  <a:txBody>
                    <a:bodyPr/>
                    <a:lstStyle/>
                    <a:p>
                      <a:pPr marL="0" marR="0" indent="85725" algn="just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L-ESN Parameters</a:t>
                      </a:r>
                      <a:r>
                        <a:rPr lang="en-US" sz="180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13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85725" algn="just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Value</a:t>
                      </a:r>
                      <a:r>
                        <a:rPr lang="en-US" sz="180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1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1180089"/>
                  </a:ext>
                </a:extLst>
              </a:tr>
              <a:tr h="302208">
                <a:tc>
                  <a:txBody>
                    <a:bodyPr/>
                    <a:lstStyle/>
                    <a:p>
                      <a:pPr marL="0" marR="0" indent="85725" algn="just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Train/Test Samples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85725" algn="just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120 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1651537"/>
                  </a:ext>
                </a:extLst>
              </a:tr>
              <a:tr h="302208">
                <a:tc>
                  <a:txBody>
                    <a:bodyPr/>
                    <a:lstStyle/>
                    <a:p>
                      <a:pPr marL="0" marR="0" indent="85725" algn="just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Neurons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85725" algn="just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400 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122415"/>
                  </a:ext>
                </a:extLst>
              </a:tr>
              <a:tr h="302208">
                <a:tc>
                  <a:txBody>
                    <a:bodyPr/>
                    <a:lstStyle/>
                    <a:p>
                      <a:pPr marL="0" marR="0" indent="85725" algn="just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Parallel Reservoirs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85725" algn="just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16 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8534600"/>
                  </a:ext>
                </a:extLst>
              </a:tr>
              <a:tr h="302208">
                <a:tc>
                  <a:txBody>
                    <a:bodyPr/>
                    <a:lstStyle/>
                    <a:p>
                      <a:pPr marL="0" marR="0" indent="85725" algn="just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Reservoir Connectivity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85725" algn="just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10%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2540305"/>
                  </a:ext>
                </a:extLst>
              </a:tr>
              <a:tr h="302208">
                <a:tc>
                  <a:txBody>
                    <a:bodyPr/>
                    <a:lstStyle/>
                    <a:p>
                      <a:pPr marL="0" marR="0" indent="85725" algn="just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Spectral Radius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85725" algn="just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0.008 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4568477"/>
                  </a:ext>
                </a:extLst>
              </a:tr>
              <a:tr h="302208">
                <a:tc>
                  <a:txBody>
                    <a:bodyPr/>
                    <a:lstStyle/>
                    <a:p>
                      <a:pPr marL="0" marR="0" indent="85725" algn="just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Learning Rate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85725" algn="just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0.08 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7751125"/>
                  </a:ext>
                </a:extLst>
              </a:tr>
              <a:tr h="302208">
                <a:tc>
                  <a:txBody>
                    <a:bodyPr/>
                    <a:lstStyle/>
                    <a:p>
                      <a:pPr marL="0" marR="0" indent="85725" algn="just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Time Steps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85725" algn="just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30 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8838240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83F06794-144D-4E8C-AEF2-F9BB15EF9F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7698" y="2903520"/>
            <a:ext cx="2838040" cy="1524362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DB7498-2C00-4414-934D-9F25B59194EA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-128"/>
                <a:cs typeface="+mn-cs"/>
              </a:rPr>
              <a:t>AVT-341 Fall 2022 PBM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ＭＳ Ｐゴシック" charset="-128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AEBCB1-5097-4FB5-ACE4-6C4EDA5CCB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-128"/>
                <a:cs typeface="+mn-cs"/>
              </a:rPr>
              <a:t>NATO Unclassified + EOP + CHL + ZAF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ＭＳ Ｐゴシック" charset="-128"/>
              <a:cs typeface="+mn-cs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31A58DA-7731-422F-8035-73AEA3E5E7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ＭＳ Ｐゴシック" charset="-128"/>
                <a:cs typeface="+mn-cs"/>
              </a:rPr>
              <a:t>Slide </a:t>
            </a:r>
            <a:fld id="{087A7899-A788-4C18-95AE-3273B8310EF3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ＭＳ Ｐゴシック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itchFamily="34" charset="0"/>
              <a:ea typeface="ＭＳ Ｐゴシック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53679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D0093-E162-43F6-A0B1-434562052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Motivation: Camera – Lidar Fusion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67F14F-B933-4282-8190-5D85629F0F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72816"/>
            <a:ext cx="7953955" cy="4680520"/>
          </a:xfrm>
        </p:spPr>
        <p:txBody>
          <a:bodyPr/>
          <a:lstStyle/>
          <a:p>
            <a:r>
              <a:rPr lang="en-US" b="0" dirty="0"/>
              <a:t>Lidar provides 3D Point Cloud</a:t>
            </a:r>
          </a:p>
          <a:p>
            <a:pPr lvl="1"/>
            <a:r>
              <a:rPr lang="en-US" dirty="0"/>
              <a:t>Difficult to train for reliable classification</a:t>
            </a:r>
          </a:p>
          <a:p>
            <a:pPr lvl="1"/>
            <a:r>
              <a:rPr lang="en-US" dirty="0"/>
              <a:t>Active sensor modality (“beacon” for adversaries)</a:t>
            </a:r>
          </a:p>
          <a:p>
            <a:pPr lvl="1"/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b="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0" dirty="0"/>
              <a:t>Mono Camera provides pixel-wise Semantic Segmentation w/ Classifications</a:t>
            </a:r>
          </a:p>
          <a:p>
            <a:pPr lvl="1"/>
            <a:r>
              <a:rPr lang="en-US" dirty="0"/>
              <a:t>2D image…needs additional information to be mapped to 3D space</a:t>
            </a:r>
          </a:p>
          <a:p>
            <a:pPr lvl="1"/>
            <a:r>
              <a:rPr lang="en-US" dirty="0"/>
              <a:t>Passive sensor modality (sensitive to lighting conditions)</a:t>
            </a:r>
          </a:p>
          <a:p>
            <a:pPr lvl="1"/>
            <a:endParaRPr lang="en-US" b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E0510D-FA36-4981-8F0D-4B50B9AD48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-128"/>
                <a:cs typeface="+mn-cs"/>
              </a:rPr>
              <a:t>NATO Unclassified + EOP + CHL + ZAF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ＭＳ Ｐゴシック" charset="-128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A4CB5F-2FB6-4CA8-8C68-C4298092CA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ＭＳ Ｐゴシック" charset="-128"/>
                <a:cs typeface="+mn-cs"/>
              </a:rPr>
              <a:t>Slide </a:t>
            </a:r>
            <a:fld id="{087A7899-A788-4C18-95AE-3273B8310EF3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ＭＳ Ｐゴシック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itchFamily="34" charset="0"/>
              <a:ea typeface="ＭＳ Ｐゴシック" charset="-128"/>
              <a:cs typeface="+mn-cs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062AF43-3E95-4F26-8D42-835137BE5266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-128"/>
                <a:cs typeface="+mn-cs"/>
              </a:rPr>
              <a:t>AVT-341 Fall 2022 PBM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ＭＳ Ｐゴシック" charset="-128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2D632B9-75EF-4DF7-A899-EF81CC8064E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196" t="34078" r="32754" b="25409"/>
          <a:stretch/>
        </p:blipFill>
        <p:spPr>
          <a:xfrm>
            <a:off x="7536699" y="1719317"/>
            <a:ext cx="3843640" cy="170968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A6731B9-2778-4254-849E-7B7E3EEBDD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7521" y="3745064"/>
            <a:ext cx="2348261" cy="182734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AEDD6C3-55BC-43B9-9F73-1A0A6865D1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4355" y="4910283"/>
            <a:ext cx="2173341" cy="1661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4869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FEAF0-D42A-5F99-A1AE-66674D51D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2510" y="963638"/>
            <a:ext cx="9379889" cy="665162"/>
          </a:xfrm>
        </p:spPr>
        <p:txBody>
          <a:bodyPr/>
          <a:lstStyle/>
          <a:p>
            <a:r>
              <a:rPr lang="en-US" dirty="0"/>
              <a:t>Camera + Lidar Perception Node</a:t>
            </a:r>
          </a:p>
        </p:txBody>
      </p:sp>
      <p:pic>
        <p:nvPicPr>
          <p:cNvPr id="6" name="Picture 1">
            <a:extLst>
              <a:ext uri="{FF2B5EF4-FFF2-40B4-BE49-F238E27FC236}">
                <a16:creationId xmlns:a16="http://schemas.microsoft.com/office/drawing/2014/main" id="{D9AFFE5F-DC65-F394-6233-66B14F38B6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125" y="1301275"/>
            <a:ext cx="2788191" cy="1705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4F8FC336-52EB-E278-898F-4998ABF636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5661" y="2133376"/>
            <a:ext cx="3168227" cy="1937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3">
            <a:extLst>
              <a:ext uri="{FF2B5EF4-FFF2-40B4-BE49-F238E27FC236}">
                <a16:creationId xmlns:a16="http://schemas.microsoft.com/office/drawing/2014/main" id="{ED9D88B4-46C8-1804-8132-92F62593D6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15" t="13949" b="13461"/>
          <a:stretch/>
        </p:blipFill>
        <p:spPr bwMode="auto">
          <a:xfrm>
            <a:off x="451380" y="4277534"/>
            <a:ext cx="2788192" cy="1609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54A272BF-564E-76AD-799C-3C8746C73B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53" t="16946" r="5616" b="14799"/>
          <a:stretch/>
        </p:blipFill>
        <p:spPr bwMode="auto">
          <a:xfrm>
            <a:off x="5783244" y="4272547"/>
            <a:ext cx="2666886" cy="1599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CDE8B8-F81C-6771-025B-6FCB956B5E35}"/>
              </a:ext>
            </a:extLst>
          </p:cNvPr>
          <p:cNvSpPr txBox="1"/>
          <p:nvPr/>
        </p:nvSpPr>
        <p:spPr>
          <a:xfrm>
            <a:off x="832132" y="3937678"/>
            <a:ext cx="25311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charset="-128"/>
                <a:cs typeface="+mn-cs"/>
              </a:rPr>
              <a:t>Raw Lidar PCL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5C557B-5D08-EC29-5641-BBE8E94D92B2}"/>
              </a:ext>
            </a:extLst>
          </p:cNvPr>
          <p:cNvSpPr txBox="1"/>
          <p:nvPr/>
        </p:nvSpPr>
        <p:spPr>
          <a:xfrm>
            <a:off x="5859465" y="3922523"/>
            <a:ext cx="27624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charset="-128"/>
                <a:cs typeface="+mn-cs"/>
              </a:rPr>
              <a:t>Image to Point Cloud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358BE16-C308-1528-AAFD-19F4BC3446A9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4480586" y="3811425"/>
            <a:ext cx="0" cy="1005464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721118F-5535-2843-0EDA-877BB65128A7}"/>
              </a:ext>
            </a:extLst>
          </p:cNvPr>
          <p:cNvSpPr txBox="1"/>
          <p:nvPr/>
        </p:nvSpPr>
        <p:spPr>
          <a:xfrm>
            <a:off x="423194" y="979288"/>
            <a:ext cx="29178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charset="-128"/>
                <a:cs typeface="+mn-cs"/>
              </a:rPr>
              <a:t>Raw Camera Image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B5B70B9-AC99-83A1-DBD1-62342BDF16FF}"/>
              </a:ext>
            </a:extLst>
          </p:cNvPr>
          <p:cNvSpPr txBox="1"/>
          <p:nvPr/>
        </p:nvSpPr>
        <p:spPr>
          <a:xfrm>
            <a:off x="3071513" y="1878820"/>
            <a:ext cx="316822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charset="-128"/>
                <a:cs typeface="+mn-cs"/>
              </a:rPr>
              <a:t>Image Segmentation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E97258C-7A4C-994B-2CFD-D057B094C687}"/>
              </a:ext>
            </a:extLst>
          </p:cNvPr>
          <p:cNvSpPr/>
          <p:nvPr/>
        </p:nvSpPr>
        <p:spPr>
          <a:xfrm>
            <a:off x="1872897" y="4822676"/>
            <a:ext cx="614913" cy="319639"/>
          </a:xfrm>
          <a:custGeom>
            <a:avLst/>
            <a:gdLst>
              <a:gd name="connsiteX0" fmla="*/ 0 w 1281869"/>
              <a:gd name="connsiteY0" fmla="*/ 649480 h 649480"/>
              <a:gd name="connsiteX1" fmla="*/ 777667 w 1281869"/>
              <a:gd name="connsiteY1" fmla="*/ 0 h 649480"/>
              <a:gd name="connsiteX2" fmla="*/ 1281869 w 1281869"/>
              <a:gd name="connsiteY2" fmla="*/ 316194 h 649480"/>
              <a:gd name="connsiteX3" fmla="*/ 0 w 1281869"/>
              <a:gd name="connsiteY3" fmla="*/ 649480 h 649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81869" h="649480">
                <a:moveTo>
                  <a:pt x="0" y="649480"/>
                </a:moveTo>
                <a:lnTo>
                  <a:pt x="777667" y="0"/>
                </a:lnTo>
                <a:lnTo>
                  <a:pt x="1281869" y="316194"/>
                </a:lnTo>
                <a:lnTo>
                  <a:pt x="0" y="649480"/>
                </a:lnTo>
                <a:close/>
              </a:path>
            </a:pathLst>
          </a:custGeom>
          <a:solidFill>
            <a:srgbClr val="FF0000">
              <a:alpha val="5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7FA124E-6CDD-0F94-199B-531838B51EFA}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832132" y="3350842"/>
            <a:ext cx="581786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DED4FBCB-AE75-6C93-2BED-B5AC81060188}"/>
              </a:ext>
            </a:extLst>
          </p:cNvPr>
          <p:cNvSpPr/>
          <p:nvPr/>
        </p:nvSpPr>
        <p:spPr>
          <a:xfrm>
            <a:off x="1413918" y="3061175"/>
            <a:ext cx="1389184" cy="579333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Deeplab V3+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D49862F-75F0-ED94-CBD7-5C0D825C287B}"/>
              </a:ext>
            </a:extLst>
          </p:cNvPr>
          <p:cNvCxnSpPr>
            <a:cxnSpLocks/>
          </p:cNvCxnSpPr>
          <p:nvPr/>
        </p:nvCxnSpPr>
        <p:spPr>
          <a:xfrm>
            <a:off x="2803102" y="3344417"/>
            <a:ext cx="553915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9F6FB8F4-F28F-59A6-C5A8-DC92DA5E38B7}"/>
              </a:ext>
            </a:extLst>
          </p:cNvPr>
          <p:cNvSpPr/>
          <p:nvPr/>
        </p:nvSpPr>
        <p:spPr>
          <a:xfrm>
            <a:off x="3946788" y="4816889"/>
            <a:ext cx="1067596" cy="510734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Fuse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F823861-8E42-05CD-72B2-4F8C7F6DA90B}"/>
              </a:ext>
            </a:extLst>
          </p:cNvPr>
          <p:cNvCxnSpPr>
            <a:cxnSpLocks/>
            <a:stCxn id="8" idx="3"/>
            <a:endCxn id="19" idx="2"/>
          </p:cNvCxnSpPr>
          <p:nvPr/>
        </p:nvCxnSpPr>
        <p:spPr>
          <a:xfrm flipV="1">
            <a:off x="3239572" y="5072256"/>
            <a:ext cx="707216" cy="995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7217B85-AA83-DF3B-E07E-535C21DCFCD9}"/>
              </a:ext>
            </a:extLst>
          </p:cNvPr>
          <p:cNvCxnSpPr>
            <a:cxnSpLocks/>
            <a:stCxn id="19" idx="6"/>
            <a:endCxn id="9" idx="1"/>
          </p:cNvCxnSpPr>
          <p:nvPr/>
        </p:nvCxnSpPr>
        <p:spPr>
          <a:xfrm flipV="1">
            <a:off x="5014384" y="5072088"/>
            <a:ext cx="768860" cy="16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596D4CB4-B2E9-3E0C-23F1-1503D55E67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51640" y="4344080"/>
            <a:ext cx="2950688" cy="1468711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D35C2BE5-C176-F32D-60E7-51F3F9F37591}"/>
              </a:ext>
            </a:extLst>
          </p:cNvPr>
          <p:cNvSpPr txBox="1"/>
          <p:nvPr/>
        </p:nvSpPr>
        <p:spPr>
          <a:xfrm>
            <a:off x="8980215" y="5387814"/>
            <a:ext cx="18444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charset="-128"/>
                <a:cs typeface="+mn-cs"/>
              </a:rPr>
              <a:t>2D Cost Map</a:t>
            </a: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F69610F6-D8F1-B915-7C75-45EDF62ED4BB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7616150" y="2504531"/>
          <a:ext cx="3902719" cy="849312"/>
        </p:xfrm>
        <a:graphic>
          <a:graphicData uri="http://schemas.openxmlformats.org/drawingml/2006/table">
            <a:tbl>
              <a:tblPr/>
              <a:tblGrid>
                <a:gridCol w="1161523">
                  <a:extLst>
                    <a:ext uri="{9D8B030D-6E8A-4147-A177-3AD203B41FA5}">
                      <a16:colId xmlns:a16="http://schemas.microsoft.com/office/drawing/2014/main" val="4012425470"/>
                    </a:ext>
                  </a:extLst>
                </a:gridCol>
                <a:gridCol w="1037628">
                  <a:extLst>
                    <a:ext uri="{9D8B030D-6E8A-4147-A177-3AD203B41FA5}">
                      <a16:colId xmlns:a16="http://schemas.microsoft.com/office/drawing/2014/main" val="120491143"/>
                    </a:ext>
                  </a:extLst>
                </a:gridCol>
                <a:gridCol w="727888">
                  <a:extLst>
                    <a:ext uri="{9D8B030D-6E8A-4147-A177-3AD203B41FA5}">
                      <a16:colId xmlns:a16="http://schemas.microsoft.com/office/drawing/2014/main" val="249869781"/>
                    </a:ext>
                  </a:extLst>
                </a:gridCol>
                <a:gridCol w="975680">
                  <a:extLst>
                    <a:ext uri="{9D8B030D-6E8A-4147-A177-3AD203B41FA5}">
                      <a16:colId xmlns:a16="http://schemas.microsoft.com/office/drawing/2014/main" val="2393269072"/>
                    </a:ext>
                  </a:extLst>
                </a:gridCol>
              </a:tblGrid>
              <a:tr h="557629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effectLst/>
                          <a:latin typeface="Arial"/>
                        </a:rPr>
                        <a:t>Global Accuracy</a:t>
                      </a:r>
                    </a:p>
                  </a:txBody>
                  <a:tcPr marL="28575" marR="28575" marT="57150" marB="28575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effectLst/>
                          <a:latin typeface="Arial"/>
                        </a:rPr>
                        <a:t>Mean Accuracy</a:t>
                      </a:r>
                    </a:p>
                  </a:txBody>
                  <a:tcPr marL="28575" marR="28575" marT="57150" marB="28575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effectLst/>
                          <a:latin typeface="Arial"/>
                        </a:rPr>
                        <a:t>Mean </a:t>
                      </a:r>
                      <a:r>
                        <a:rPr lang="en-US" sz="1400" b="1" err="1">
                          <a:effectLst/>
                          <a:latin typeface="Arial"/>
                        </a:rPr>
                        <a:t>IoU</a:t>
                      </a:r>
                      <a:endParaRPr lang="en-US" sz="1400" b="1">
                        <a:effectLst/>
                        <a:latin typeface="Arial"/>
                      </a:endParaRPr>
                    </a:p>
                  </a:txBody>
                  <a:tcPr marL="28575" marR="28575" marT="57150" marB="28575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effectLst/>
                          <a:latin typeface="Arial"/>
                        </a:rPr>
                        <a:t>Weighted </a:t>
                      </a:r>
                      <a:r>
                        <a:rPr lang="en-US" sz="1400" b="1" err="1">
                          <a:effectLst/>
                          <a:latin typeface="Arial"/>
                        </a:rPr>
                        <a:t>IoU</a:t>
                      </a:r>
                      <a:endParaRPr lang="en-US" sz="1400" b="1">
                        <a:effectLst/>
                        <a:latin typeface="Arial"/>
                      </a:endParaRPr>
                    </a:p>
                  </a:txBody>
                  <a:tcPr marL="28575" marR="28575" marT="57150" marB="28575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81578"/>
                  </a:ext>
                </a:extLst>
              </a:tr>
              <a:tr h="291683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  <a:highlight>
                            <a:srgbClr val="FFFF00"/>
                          </a:highlight>
                          <a:latin typeface="Arial"/>
                        </a:rPr>
                        <a:t>0.9113</a:t>
                      </a: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  <a:latin typeface="Arial"/>
                        </a:rPr>
                        <a:t>0.9401</a:t>
                      </a: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  <a:latin typeface="Arial"/>
                        </a:rPr>
                        <a:t>0.5906</a:t>
                      </a: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  <a:latin typeface="Arial"/>
                        </a:rPr>
                        <a:t>0.8602</a:t>
                      </a: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7182174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8D8FD1B0-0D66-0EA8-69EC-F28E583BAAB9}"/>
              </a:ext>
            </a:extLst>
          </p:cNvPr>
          <p:cNvSpPr txBox="1"/>
          <p:nvPr/>
        </p:nvSpPr>
        <p:spPr>
          <a:xfrm>
            <a:off x="7233793" y="2079554"/>
            <a:ext cx="46674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charset="-128"/>
                <a:cs typeface="+mn-cs"/>
              </a:rPr>
              <a:t>Deeplab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charset="-128"/>
                <a:cs typeface="+mn-cs"/>
              </a:rPr>
              <a:t> V3+ Train/Test Global Results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E123259-7903-5F7C-484F-7157A6489670}"/>
              </a:ext>
            </a:extLst>
          </p:cNvPr>
          <p:cNvCxnSpPr>
            <a:cxnSpLocks/>
          </p:cNvCxnSpPr>
          <p:nvPr/>
        </p:nvCxnSpPr>
        <p:spPr>
          <a:xfrm>
            <a:off x="859314" y="2878630"/>
            <a:ext cx="0" cy="449187"/>
          </a:xfrm>
          <a:prstGeom prst="straightConnector1">
            <a:avLst/>
          </a:prstGeom>
          <a:ln w="762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5C7ADDD-7217-165A-9052-9D6AC63DA2FA}"/>
              </a:ext>
            </a:extLst>
          </p:cNvPr>
          <p:cNvCxnSpPr>
            <a:cxnSpLocks/>
            <a:endCxn id="31" idx="2"/>
          </p:cNvCxnSpPr>
          <p:nvPr/>
        </p:nvCxnSpPr>
        <p:spPr>
          <a:xfrm flipV="1">
            <a:off x="8448417" y="5077525"/>
            <a:ext cx="447316" cy="4682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6F9D626-0CA7-50BD-8714-B4F264F9ABE6}"/>
              </a:ext>
            </a:extLst>
          </p:cNvPr>
          <p:cNvCxnSpPr>
            <a:cxnSpLocks/>
          </p:cNvCxnSpPr>
          <p:nvPr/>
        </p:nvCxnSpPr>
        <p:spPr>
          <a:xfrm>
            <a:off x="9006143" y="5073416"/>
            <a:ext cx="489737" cy="87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DF5F3CE8-3502-4EF1-760F-9C6B5C299387}"/>
              </a:ext>
            </a:extLst>
          </p:cNvPr>
          <p:cNvSpPr/>
          <p:nvPr/>
        </p:nvSpPr>
        <p:spPr>
          <a:xfrm>
            <a:off x="8895733" y="4964389"/>
            <a:ext cx="226271" cy="22627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6B4B1F8-E1D5-5595-A0E1-E4C56F4097C1}"/>
              </a:ext>
            </a:extLst>
          </p:cNvPr>
          <p:cNvSpPr txBox="1"/>
          <p:nvPr/>
        </p:nvSpPr>
        <p:spPr>
          <a:xfrm>
            <a:off x="8641443" y="4587311"/>
            <a:ext cx="11467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charset="-128"/>
                <a:cs typeface="+mn-cs"/>
              </a:rPr>
              <a:t>Vehicle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52DA8F-873D-4707-9668-B34225ABC141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-128"/>
                <a:cs typeface="+mn-cs"/>
              </a:rPr>
              <a:t>AVT-341 Fall 2022 PBM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ＭＳ Ｐゴシック" charset="-128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24EE36-FF9E-4228-BCC8-C859C820BD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-128"/>
                <a:cs typeface="+mn-cs"/>
              </a:rPr>
              <a:t>NATO Unclassified + EOP + CHL + ZAF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ＭＳ Ｐゴシック" charset="-128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56C9DE-45FE-44A6-8EE6-DD5AB9C4D8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ＭＳ Ｐゴシック" charset="-128"/>
                <a:cs typeface="+mn-cs"/>
              </a:rPr>
              <a:t>Slide </a:t>
            </a:r>
            <a:fld id="{087A7899-A788-4C18-95AE-3273B8310EF3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ＭＳ Ｐゴシック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itchFamily="34" charset="0"/>
              <a:ea typeface="ＭＳ Ｐゴシック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24715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6733F-1133-8FF6-1D96-8D0071B1C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Mapping/Planning Integration</a:t>
            </a:r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D7839EAB-ABAD-3345-A749-7BF251DA76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6903" b="263"/>
          <a:stretch/>
        </p:blipFill>
        <p:spPr>
          <a:xfrm>
            <a:off x="87135" y="2896817"/>
            <a:ext cx="3748872" cy="3002303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D4084F9-9898-F457-5404-716D492220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3728863" y="3090987"/>
            <a:ext cx="3748316" cy="223091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5BA31F9-CBD4-79FD-CC9C-EF9669FD0A75}"/>
              </a:ext>
            </a:extLst>
          </p:cNvPr>
          <p:cNvSpPr txBox="1"/>
          <p:nvPr/>
        </p:nvSpPr>
        <p:spPr>
          <a:xfrm>
            <a:off x="6971734" y="6229923"/>
            <a:ext cx="52886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charset="-128"/>
                <a:cs typeface="+mn-cs"/>
              </a:rPr>
              <a:t>Arbitrary Cost Assignment based on Classification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3493DF-46BC-2C99-D949-AE5180AE94EA}"/>
              </a:ext>
            </a:extLst>
          </p:cNvPr>
          <p:cNvSpPr txBox="1"/>
          <p:nvPr/>
        </p:nvSpPr>
        <p:spPr>
          <a:xfrm>
            <a:off x="384915" y="1794597"/>
            <a:ext cx="3028950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charset="-128"/>
                <a:cs typeface="Arial"/>
              </a:rPr>
              <a:t>Output data types: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charset="-128"/>
                <a:cs typeface="Arial"/>
              </a:rPr>
              <a:t>Matrix array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charset="-128"/>
                <a:cs typeface="Arial"/>
              </a:rPr>
              <a:t>VehicleCostMap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charset="-128"/>
                <a:cs typeface="Arial"/>
              </a:rPr>
              <a:t> object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8AE602-217C-815D-2100-4DC799F3143C}"/>
              </a:ext>
            </a:extLst>
          </p:cNvPr>
          <p:cNvSpPr txBox="1"/>
          <p:nvPr/>
        </p:nvSpPr>
        <p:spPr>
          <a:xfrm>
            <a:off x="4329993" y="1975727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charset="-128"/>
                <a:cs typeface="+mn-cs"/>
              </a:rPr>
              <a:t>VehicleCostMap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charset="-128"/>
                <a:cs typeface="+mn-cs"/>
              </a:rPr>
              <a:t> object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charset="-128"/>
                <a:cs typeface="Arial"/>
              </a:rPr>
              <a:t>​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ＭＳ Ｐゴシック" charset="-128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D2ACD3-40E1-2180-92F9-0067F00DA9CB}"/>
              </a:ext>
            </a:extLst>
          </p:cNvPr>
          <p:cNvSpPr txBox="1"/>
          <p:nvPr/>
        </p:nvSpPr>
        <p:spPr>
          <a:xfrm>
            <a:off x="1136650" y="2779713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charset="-128"/>
                <a:cs typeface="+mn-cs"/>
              </a:rPr>
              <a:t>Matrix array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38C9257-AE93-C4D3-4AB2-D9A7C192F5D7}"/>
              </a:ext>
            </a:extLst>
          </p:cNvPr>
          <p:cNvCxnSpPr/>
          <p:nvPr/>
        </p:nvCxnSpPr>
        <p:spPr>
          <a:xfrm flipV="1">
            <a:off x="321806" y="3171123"/>
            <a:ext cx="1914524" cy="1093790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165D3F1A-6889-31D5-FC85-AE34C5FFE7E4}"/>
              </a:ext>
            </a:extLst>
          </p:cNvPr>
          <p:cNvSpPr/>
          <p:nvPr/>
        </p:nvSpPr>
        <p:spPr>
          <a:xfrm>
            <a:off x="328613" y="4384675"/>
            <a:ext cx="182562" cy="15875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00B3C81-C6A8-E33B-C242-7D52DF29CB69}"/>
              </a:ext>
            </a:extLst>
          </p:cNvPr>
          <p:cNvCxnSpPr>
            <a:cxnSpLocks/>
          </p:cNvCxnSpPr>
          <p:nvPr/>
        </p:nvCxnSpPr>
        <p:spPr>
          <a:xfrm>
            <a:off x="320675" y="4614863"/>
            <a:ext cx="1866901" cy="993774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2B4BAFD-6164-78B9-3B41-829BC9854736}"/>
              </a:ext>
            </a:extLst>
          </p:cNvPr>
          <p:cNvCxnSpPr>
            <a:cxnSpLocks/>
          </p:cNvCxnSpPr>
          <p:nvPr/>
        </p:nvCxnSpPr>
        <p:spPr>
          <a:xfrm flipV="1">
            <a:off x="392112" y="4457700"/>
            <a:ext cx="398464" cy="6350"/>
          </a:xfrm>
          <a:prstGeom prst="straightConnector1">
            <a:avLst/>
          </a:prstGeom>
          <a:ln w="28575">
            <a:solidFill>
              <a:srgbClr val="FF0000"/>
            </a:solidFill>
            <a:prstDash val="solid"/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15">
            <a:extLst>
              <a:ext uri="{FF2B5EF4-FFF2-40B4-BE49-F238E27FC236}">
                <a16:creationId xmlns:a16="http://schemas.microsoft.com/office/drawing/2014/main" id="{6C940A70-997A-9BD7-9AFA-BFDEE00513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9325" y="3016250"/>
            <a:ext cx="458788" cy="268287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DD18CCD-78E5-4F0A-954D-B968460F6E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9677" y="2136193"/>
            <a:ext cx="4055693" cy="4093730"/>
          </a:xfrm>
          <a:prstGeom prst="rect">
            <a:avLst/>
          </a:prstGeom>
        </p:spPr>
      </p:pic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052AD85C-FB42-44D4-8BD5-F5FF6B241D4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-128"/>
                <a:cs typeface="+mn-cs"/>
              </a:rPr>
              <a:t>AVT-341 Fall 2022 PBM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ＭＳ Ｐゴシック" charset="-128"/>
              <a:cs typeface="+mn-cs"/>
            </a:endParaRP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37426F92-C095-4938-A943-78D4DCB0A2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-128"/>
                <a:cs typeface="+mn-cs"/>
              </a:rPr>
              <a:t>NATO Unclassified + EOP + CHL + ZAF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ＭＳ Ｐゴシック" charset="-128"/>
              <a:cs typeface="+mn-cs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9ACB0B89-5C08-4A00-8775-9364C319C9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ＭＳ Ｐゴシック" charset="-128"/>
                <a:cs typeface="+mn-cs"/>
              </a:rPr>
              <a:t>Slide </a:t>
            </a:r>
            <a:fld id="{087A7899-A788-4C18-95AE-3273B8310EF3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ＭＳ Ｐゴシック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itchFamily="34" charset="0"/>
              <a:ea typeface="ＭＳ Ｐゴシック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1630370"/>
      </p:ext>
    </p:extLst>
  </p:cSld>
  <p:clrMapOvr>
    <a:masterClrMapping/>
  </p:clrMapOvr>
</p:sld>
</file>

<file path=ppt/theme/theme1.xml><?xml version="1.0" encoding="utf-8"?>
<a:theme xmlns:a="http://schemas.openxmlformats.org/drawingml/2006/main" name="31st AVT PBM">
  <a:themeElements>
    <a:clrScheme name="RTOBriefings-3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RTOBriefings-3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TOBriefings-3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TOBriefings-3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TOBriefings-3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TOBriefings-3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TOBriefings-3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TOBriefings-3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TOBriefings-3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TOBriefings-3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TOBriefings-3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TOBriefings-3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TOBriefings-3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926</Words>
  <Application>Microsoft Office PowerPoint</Application>
  <PresentationFormat>Widescreen</PresentationFormat>
  <Paragraphs>225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MS PGothic</vt:lpstr>
      <vt:lpstr>Arial</vt:lpstr>
      <vt:lpstr>Calibri</vt:lpstr>
      <vt:lpstr>DINWebPro-Regular</vt:lpstr>
      <vt:lpstr>Proxima Nova</vt:lpstr>
      <vt:lpstr>Segoe UI</vt:lpstr>
      <vt:lpstr>Times New Roman</vt:lpstr>
      <vt:lpstr>Wingdings</vt:lpstr>
      <vt:lpstr>31st AVT PBM</vt:lpstr>
      <vt:lpstr>Problem: Autonomous Perception for Terrain Classification</vt:lpstr>
      <vt:lpstr>Problem: Autonomous Perception for Object Classification</vt:lpstr>
      <vt:lpstr>Exteroceptive Sensors</vt:lpstr>
      <vt:lpstr>Publicly Available Datasets for Unstructured Environments</vt:lpstr>
      <vt:lpstr>Machine Learning Architectures</vt:lpstr>
      <vt:lpstr>Modified Echo State Network</vt:lpstr>
      <vt:lpstr>Modified ESN for Image Data</vt:lpstr>
      <vt:lpstr>Optimization w/ Modified ESN for image data</vt:lpstr>
      <vt:lpstr>Modified ESN for Lidar Data</vt:lpstr>
      <vt:lpstr>Modified ESN for Lidar data</vt:lpstr>
      <vt:lpstr>Modified ESN for Lidar data</vt:lpstr>
      <vt:lpstr>Motivation: Camera – Lidar Fusion</vt:lpstr>
      <vt:lpstr>Camera + Lidar Perception Node</vt:lpstr>
      <vt:lpstr>Mapping/Planning Integration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Problem: Autonomous Perception for Terrain Classification</dc:title>
  <dc:creator>Bowen, Nicholas F</dc:creator>
  <cp:lastModifiedBy>Bowen, Nicholas F</cp:lastModifiedBy>
  <cp:revision>1</cp:revision>
  <dcterms:created xsi:type="dcterms:W3CDTF">2022-10-10T20:29:45Z</dcterms:created>
  <dcterms:modified xsi:type="dcterms:W3CDTF">2022-10-10T20:33:22Z</dcterms:modified>
</cp:coreProperties>
</file>